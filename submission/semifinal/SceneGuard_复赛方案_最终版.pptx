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60cb77dd2e4702" /><Relationship Type="http://schemas.openxmlformats.org/officeDocument/2006/relationships/extended-properties" Target="/docProps/app.xml" Id="R019cebf2fe8b48cf" /><Relationship Type="http://schemas.openxmlformats.org/officeDocument/2006/relationships/officeDocument" Target="/ppt/presentation.xml" Id="Ra82f3a964caf49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cbac9bc9fa466d"/>
  </p:sldMasterIdLst>
  <p:notesMasterIdLst>
    <p:notesMasterId xmlns:r="http://schemas.openxmlformats.org/officeDocument/2006/relationships" r:id="Rbcc442131bf34218"/>
  </p:notesMasterIdLst>
  <p:sldIdLst>
    <p:sldId xmlns:r="http://schemas.openxmlformats.org/officeDocument/2006/relationships" id="256" r:id="Rb2049e00f32f4279"/>
    <p:sldId xmlns:r="http://schemas.openxmlformats.org/officeDocument/2006/relationships" id="257" r:id="R96d7599893104a3a"/>
    <p:sldId xmlns:r="http://schemas.openxmlformats.org/officeDocument/2006/relationships" id="258" r:id="R6e0addf3b11b46a2"/>
    <p:sldId xmlns:r="http://schemas.openxmlformats.org/officeDocument/2006/relationships" id="259" r:id="R3e43d86edbc14bf2"/>
    <p:sldId xmlns:r="http://schemas.openxmlformats.org/officeDocument/2006/relationships" id="260" r:id="R9659bd1d9eee486d"/>
    <p:sldId xmlns:r="http://schemas.openxmlformats.org/officeDocument/2006/relationships" id="261" r:id="R72457b53300342dd"/>
    <p:sldId xmlns:r="http://schemas.openxmlformats.org/officeDocument/2006/relationships" id="262" r:id="R033466cb3e114811"/>
    <p:sldId xmlns:r="http://schemas.openxmlformats.org/officeDocument/2006/relationships" id="263" r:id="R00b7f1b1c1514b01"/>
    <p:sldId xmlns:r="http://schemas.openxmlformats.org/officeDocument/2006/relationships" id="264" r:id="Rd604aa35d8f44f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4fb30e54fb4292" /><Relationship Type="http://schemas.openxmlformats.org/officeDocument/2006/relationships/slideMaster" Target="/ppt/slideMasters/slideMaster1.xml" Id="R3acbac9bc9fa466d" /><Relationship Type="http://schemas.openxmlformats.org/officeDocument/2006/relationships/notesMaster" Target="/ppt/notesMasters/notesMaster1.xml" Id="Rbcc442131bf34218" /><Relationship Type="http://schemas.openxmlformats.org/officeDocument/2006/relationships/presProps" Target="/ppt/presProps.xml" Id="Rf47204137edb4e02" /><Relationship Type="http://schemas.openxmlformats.org/officeDocument/2006/relationships/tableStyles" Target="/ppt/tableStyles.xml" Id="R871ef6af37114c21" /><Relationship Type="http://schemas.openxmlformats.org/officeDocument/2006/relationships/slide" Target="/ppt/slides/slide1.xml" Id="Rb2049e00f32f4279" /><Relationship Type="http://schemas.openxmlformats.org/officeDocument/2006/relationships/slide" Target="/ppt/slides/slide2.xml" Id="R96d7599893104a3a" /><Relationship Type="http://schemas.openxmlformats.org/officeDocument/2006/relationships/slide" Target="/ppt/slides/slide3.xml" Id="R6e0addf3b11b46a2" /><Relationship Type="http://schemas.openxmlformats.org/officeDocument/2006/relationships/slide" Target="/ppt/slides/slide4.xml" Id="R3e43d86edbc14bf2" /><Relationship Type="http://schemas.openxmlformats.org/officeDocument/2006/relationships/slide" Target="/ppt/slides/slide5.xml" Id="R9659bd1d9eee486d" /><Relationship Type="http://schemas.openxmlformats.org/officeDocument/2006/relationships/slide" Target="/ppt/slides/slide6.xml" Id="R72457b53300342dd" /><Relationship Type="http://schemas.openxmlformats.org/officeDocument/2006/relationships/slide" Target="/ppt/slides/slide7.xml" Id="R033466cb3e114811" /><Relationship Type="http://schemas.openxmlformats.org/officeDocument/2006/relationships/slide" Target="/ppt/slides/slide8.xml" Id="R00b7f1b1c1514b01" /><Relationship Type="http://schemas.openxmlformats.org/officeDocument/2006/relationships/slide" Target="/ppt/slides/slide9.xml" Id="Rd604aa35d8f44f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70766f83644b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c654bc57264a24" /><Relationship Type="http://schemas.openxmlformats.org/officeDocument/2006/relationships/notesMaster" Target="/ppt/notesMasters/notesMaster1.xml" Id="Rd579558d6f2148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ca066feb7a4ce9" /><Relationship Type="http://schemas.openxmlformats.org/officeDocument/2006/relationships/notesMaster" Target="/ppt/notesMasters/notesMaster1.xml" Id="R29347bd34c264a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43de1d1e8e4164" /><Relationship Type="http://schemas.openxmlformats.org/officeDocument/2006/relationships/notesMaster" Target="/ppt/notesMasters/notesMaster1.xml" Id="Recccba83f1c240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7489a549434c5f" /><Relationship Type="http://schemas.openxmlformats.org/officeDocument/2006/relationships/notesMaster" Target="/ppt/notesMasters/notesMaster1.xml" Id="R697c13fc65bd46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8a861971504e71" /><Relationship Type="http://schemas.openxmlformats.org/officeDocument/2006/relationships/notesMaster" Target="/ppt/notesMasters/notesMaster1.xml" Id="R09371fc2829744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a3c06efd6b4640" /><Relationship Type="http://schemas.openxmlformats.org/officeDocument/2006/relationships/notesMaster" Target="/ppt/notesMasters/notesMaster1.xml" Id="R7a984a7a91dc44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17760ec76e4018" /><Relationship Type="http://schemas.openxmlformats.org/officeDocument/2006/relationships/notesMaster" Target="/ppt/notesMasters/notesMaster1.xml" Id="R8d4102ebcae142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595edb6adf4ba7" /><Relationship Type="http://schemas.openxmlformats.org/officeDocument/2006/relationships/notesMaster" Target="/ppt/notesMasters/notesMaster1.xml" Id="R9cccc4bd2cf347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097d3dcab449a8" /><Relationship Type="http://schemas.openxmlformats.org/officeDocument/2006/relationships/notesMaster" Target="/ppt/notesMasters/notesMaster1.xml" Id="R7e26c3a6b97549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开场只说一个结论：SceneGuard 已从概念方案升级为带真实运行证据的五 Agent 交付门禁。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GOAI 2026 赛道一 Agent Infra 复赛参赛指南</a:t>
            </a:r>
          </a:p>
          <a:p xmlns:a="http://schemas.openxmlformats.org/drawingml/2006/main">
            <a:r>
              <a:t>- release-facts.v0.1.json</a:t>
            </a:r>
          </a:p>
          <a:p xmlns:a="http://schemas.openxmlformats.org/drawingml/2006/main">
            <a:r>
              <a:t>- reports/agentteams-stability-latest.json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先讲业务风险，再给实现规模。强调自动侧指标已经实测，但人工节省比例仍等待盲标基线。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benchmark/business-value.v0.1.json</a:t>
            </a:r>
          </a:p>
          <a:p xmlns:a="http://schemas.openxmlformats.org/drawingml/2006/main">
            <a:r>
              <a:t>- release-facts.v0.1.json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这页是指南要求的输入输出闭环图。每个节点都能落到机器文件，不是概念箭头。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DATA_SOURCES.md</a:t>
            </a:r>
          </a:p>
          <a:p xmlns:a="http://schemas.openxmlformats.org/drawingml/2006/main">
            <a:r>
              <a:t>- at/semifinal-scenario-suite.v0.2.json</a:t>
            </a:r>
          </a:p>
          <a:p xmlns:a="http://schemas.openxmlformats.org/drawingml/2006/main">
            <a:r>
              <a:t>- evidence/agentteams/five-agent-supervisor-20260901.json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强调这不是单 Agent 串四个函数：存在一名 Leader、四名 Worker、真实 Project/Task 与逐项验收。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at/agent-identities.v0.2.json</a:t>
            </a:r>
          </a:p>
          <a:p xmlns:a="http://schemas.openxmlformats.org/drawingml/2006/main">
            <a:r>
              <a:t>- skills/registry.v0.2.json</a:t>
            </a:r>
          </a:p>
          <a:p xmlns:a="http://schemas.openxmlformats.org/drawingml/2006/main">
            <a:r>
              <a:t>- at/AGENTTEAMS_RUNBOOK.md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主动区分业务指标和证据链：两者相连但不是同一个要求。避免把 5 次自动运行冒充人工节省比例。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reports/agentteams-stability-latest.json</a:t>
            </a:r>
          </a:p>
          <a:p xmlns:a="http://schemas.openxmlformats.org/drawingml/2006/main">
            <a:r>
              <a:t>- evidence/agentteams/five-agent-supervisor-20260901.json</a:t>
            </a:r>
          </a:p>
          <a:p xmlns:a="http://schemas.openxmlformats.org/drawingml/2006/main">
            <a:r>
              <a:t>- benchmark/business-value.v0.1.json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 L2 的人工审批不是救场，而是业务授权。Verifier 才拥有发布权，Executor 不能自证成功。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src/sceneguard/pipeline.py</a:t>
            </a:r>
          </a:p>
          <a:p xmlns:a="http://schemas.openxmlformats.org/drawingml/2006/main">
            <a:r>
              <a:t>- benchmark/acceptance.v0.1.json</a:t>
            </a:r>
          </a:p>
          <a:p xmlns:a="http://schemas.openxmlformats.org/drawingml/2006/main">
            <a:r>
              <a:t>- tests/test_pipeline.py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真实资产口径要诚实：当前是 GitHub 开源资产平台接入，不是工作室客户或生产 DAM。Sketchfab OAuth 属于下一阶段。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DATA_SOURCES.md</a:t>
            </a:r>
          </a:p>
          <a:p xmlns:a="http://schemas.openxmlformats.org/drawingml/2006/main">
            <a:r>
              <a:t>- reports/public-asset-sync-latest.json</a:t>
            </a:r>
          </a:p>
          <a:p xmlns:a="http://schemas.openxmlformats.org/drawingml/2006/main">
            <a:r>
              <a:t>- samples/public/*.source.json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这一页回答可访问、可运行、可验证。冷启动测试曾发现包缺 LICENSE/证据，修复后重新验证通过。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reports/benchmark-latest.json</a:t>
            </a:r>
          </a:p>
          <a:p xmlns:a="http://schemas.openxmlformats.org/drawingml/2006/main">
            <a:r>
              <a:t>- reports/release-consistency.json</a:t>
            </a:r>
          </a:p>
          <a:p xmlns:a="http://schemas.openxmlformats.org/drawingml/2006/main">
            <a:r>
              <a:t>- reports/submission-manifest.json</a:t>
            </a:r>
          </a:p>
          <a:p xmlns:a="http://schemas.openxmlformats.org/drawingml/2006/main">
            <a:r>
              <a:t>- LICENSE</a:t>
            </a:r>
          </a:p>
          <a:p xmlns:a="http://schemas.openxmlformats.org/drawingml/2006/main">
            <a:r>
              <a:t>- NOTICE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从这页直接切到 1 分钟本地 Demo。只展示上传、Agent 任务、Gate 和证据四个视觉锚点。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复赛参赛指南：项目陈述 3 分钟 + Demo 1 分钟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evidence/agentteams/five-agent-supervisor-20260901.json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616d83a374e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4555cc983a46ef" /><Relationship Type="http://schemas.openxmlformats.org/officeDocument/2006/relationships/slideLayout" Target="/ppt/slideLayouts/slideLayout1.xml" Id="Rd48ea80d373d4e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ea80d373d4e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88126b0734386" /><Relationship Type="http://schemas.openxmlformats.org/officeDocument/2006/relationships/notesSlide" Target="/ppt/notesSlides/notesSlide1.xml" Id="R167abbfeddd945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9a43699474af7" /><Relationship Type="http://schemas.openxmlformats.org/officeDocument/2006/relationships/notesSlide" Target="/ppt/notesSlides/notesSlide2.xml" Id="Rde3d0a73327c43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3f1ffe2c642c2" /><Relationship Type="http://schemas.openxmlformats.org/officeDocument/2006/relationships/notesSlide" Target="/ppt/notesSlides/notesSlide3.xml" Id="R84789a01eb6945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a366ba0df4823" /><Relationship Type="http://schemas.openxmlformats.org/officeDocument/2006/relationships/notesSlide" Target="/ppt/notesSlides/notesSlide4.xml" Id="R86d6e138e38547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66bc0987d34cb8" /><Relationship Type="http://schemas.openxmlformats.org/officeDocument/2006/relationships/notesSlide" Target="/ppt/notesSlides/notesSlide5.xml" Id="Rc2f661ca937249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3f1a26abd4d68" /><Relationship Type="http://schemas.openxmlformats.org/officeDocument/2006/relationships/notesSlide" Target="/ppt/notesSlides/notesSlide6.xml" Id="Rd7d9bf9ce2ea4e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1eae20ced41ba" /><Relationship Type="http://schemas.openxmlformats.org/officeDocument/2006/relationships/notesSlide" Target="/ppt/notesSlides/notesSlide7.xml" Id="R05d60fbcaa974e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09b20096f42e1" /><Relationship Type="http://schemas.openxmlformats.org/officeDocument/2006/relationships/notesSlide" Target="/ppt/notesSlides/notesSlide8.xml" Id="R6430cc9ec2324c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d27362e1a44cc" /><Relationship Type="http://schemas.openxmlformats.org/officeDocument/2006/relationships/notesSlide" Target="/ppt/notesSlides/notesSlide9.xml" Id="R53906d169abb4a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ver-redline">
            <a:extLst xmlns:a="http://schemas.openxmlformats.org/drawingml/2006/main">
              <a:ext uri="{FF2B5EF4-FFF2-40B4-BE49-F238E27FC236}">
                <a16:creationId xmlns:a16="http://schemas.microsoft.com/office/drawing/2014/main" id="{2377B378-2446-4544-8755-1943C40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C1DCA8CA-DCCF-413A-9D63-7DD22125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5D9"/>
                </a:solidFill>
              </a:defRPr>
            </a:pPr>
            <a:r>
              <a:rPr sz="1125" b="1">
                <a:solidFill>
                  <a:srgbClr val="1455D9"/>
                </a:solidFill>
              </a:rPr>
              <a:t>GOAI 2026 · AGENT INFRA · 复赛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B1B6ED6-2AE8-48B4-909D-C3207B12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SceneGuard</a:t>
            </a:r>
          </a:p>
        </p:txBody>
      </p:sp>
      <p:sp>
        <p:nvSpPr>
          <p:cNvPr id="4" name="cover-cn">
            <a:extLst xmlns:a="http://schemas.openxmlformats.org/drawingml/2006/main">
              <a:ext uri="{FF2B5EF4-FFF2-40B4-BE49-F238E27FC236}">
                <a16:creationId xmlns:a16="http://schemas.microsoft.com/office/drawing/2014/main" id="{F505F79F-5B63-4516-AEDF-6911918A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三维资产质量门禁与受控修复系统</a:t>
            </a:r>
          </a:p>
        </p:txBody>
      </p:sp>
      <p:sp>
        <p:nvSpPr>
          <p:cNvPr id="5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03A44BD8-3C39-4DFA-8843-82656181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4"/>
                </a:solidFill>
              </a:defRPr>
            </a:pPr>
            <a:r>
              <a:rPr sz="1800" b="0">
                <a:solidFill>
                  <a:srgbClr val="5B6474"/>
                </a:solidFill>
              </a:rPr>
              <a:t>让 5 个 Agent 把“发现问题”推进为可审计、可回滚、可复现的交付结果。</a:t>
            </a:r>
          </a:p>
        </p:txBody>
      </p:sp>
      <p:sp>
        <p:nvSpPr>
          <p:cNvPr id="6" name="cover-proof">
            <a:extLst xmlns:a="http://schemas.openxmlformats.org/drawingml/2006/main">
              <a:ext uri="{FF2B5EF4-FFF2-40B4-BE49-F238E27FC236}">
                <a16:creationId xmlns:a16="http://schemas.microsoft.com/office/drawing/2014/main" id="{E83E88BC-243D-4B20-83BC-431D1980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00150"/>
            <a:ext cx="2724150" cy="358140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0A2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ver-proof-label">
            <a:extLst xmlns:a="http://schemas.openxmlformats.org/drawingml/2006/main">
              <a:ext uri="{FF2B5EF4-FFF2-40B4-BE49-F238E27FC236}">
                <a16:creationId xmlns:a16="http://schemas.microsoft.com/office/drawing/2014/main" id="{FD0129E4-5107-4091-B73D-89976ED4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240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BB9FF"/>
                </a:solidFill>
              </a:defRPr>
            </a:pPr>
            <a:r>
              <a:rPr sz="1200" b="1">
                <a:solidFill>
                  <a:srgbClr val="9BB9FF"/>
                </a:solidFill>
              </a:rPr>
              <a:t>VALIDATED</a:t>
            </a:r>
          </a:p>
        </p:txBody>
      </p:sp>
      <p:sp>
        <p:nvSpPr>
          <p:cNvPr id="8" name="cover-proof-main">
            <a:extLst xmlns:a="http://schemas.openxmlformats.org/drawingml/2006/main">
              <a:ext uri="{FF2B5EF4-FFF2-40B4-BE49-F238E27FC236}">
                <a16:creationId xmlns:a16="http://schemas.microsoft.com/office/drawing/2014/main" id="{DBC46207-8CF2-42DC-A7A5-0CC59001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1930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5 / 5</a:t>
            </a:r>
          </a:p>
        </p:txBody>
      </p:sp>
      <p:sp>
        <p:nvSpPr>
          <p:cNvPr id="9" name="cover-proof-copy">
            <a:extLst xmlns:a="http://schemas.openxmlformats.org/drawingml/2006/main">
              <a:ext uri="{FF2B5EF4-FFF2-40B4-BE49-F238E27FC236}">
                <a16:creationId xmlns:a16="http://schemas.microsoft.com/office/drawing/2014/main" id="{F1EC5675-1C4A-43DD-BFFD-07FF4C70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9560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五 Agent 主链连续通过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派发后人工救场 0 次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终态 REPAIRED_PASS</a:t>
            </a:r>
          </a:p>
        </p:txBody>
      </p:sp>
      <p:sp>
        <p:nvSpPr>
          <p:cNvPr id="10" name="cover-red-badge">
            <a:extLst xmlns:a="http://schemas.openxmlformats.org/drawingml/2006/main">
              <a:ext uri="{FF2B5EF4-FFF2-40B4-BE49-F238E27FC236}">
                <a16:creationId xmlns:a16="http://schemas.microsoft.com/office/drawing/2014/main" id="{CA84AA23-208C-4EA2-A7A4-1C18C2FF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628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red-text">
            <a:extLst xmlns:a="http://schemas.openxmlformats.org/drawingml/2006/main">
              <a:ext uri="{FF2B5EF4-FFF2-40B4-BE49-F238E27FC236}">
                <a16:creationId xmlns:a16="http://schemas.microsoft.com/office/drawing/2014/main" id="{AB6B5F70-B74E-44B3-B7E8-68B0F605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01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初赛反馈 · 7 项整改已落地</a:t>
            </a:r>
          </a:p>
        </p:txBody>
      </p:sp>
      <p:sp>
        <p:nvSpPr>
          <p:cNvPr id="12" name="cover-team">
            <a:extLst xmlns:a="http://schemas.openxmlformats.org/drawingml/2006/main">
              <a:ext uri="{FF2B5EF4-FFF2-40B4-BE49-F238E27FC236}">
                <a16:creationId xmlns:a16="http://schemas.microsoft.com/office/drawing/2014/main" id="{DD723ADE-02E6-4AEF-B185-F1655E52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第 6 组 · 第 26 队</a:t>
            </a:r>
          </a:p>
        </p:txBody>
      </p:sp>
      <p:sp>
        <p:nvSpPr>
          <p:cNvPr id="13" name="cover-date">
            <a:extLst xmlns:a="http://schemas.openxmlformats.org/drawingml/2006/main">
              <a:ext uri="{FF2B5EF4-FFF2-40B4-BE49-F238E27FC236}">
                <a16:creationId xmlns:a16="http://schemas.microsoft.com/office/drawing/2014/main" id="{A343304D-4474-4BCA-9EE0-0683770D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810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4"/>
                </a:solidFill>
              </a:defRPr>
            </a:pPr>
            <a:r>
              <a:rPr sz="1200" b="1">
                <a:solidFill>
                  <a:srgbClr val="5B6474"/>
                </a:solidFill>
              </a:rPr>
              <a:t>2026.09.04 · 线上答辩</a:t>
            </a:r>
          </a:p>
        </p:txBody>
      </p:sp>
    </p:spTree>
    <p:extLst>
      <p:ext uri="{BB962C8B-B14F-4D97-AF65-F5344CB8AC3E}">
        <p14:creationId xmlns:p14="http://schemas.microsoft.com/office/powerpoint/2010/main" val="2116301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kicker-2">
            <a:extLst xmlns:a="http://schemas.openxmlformats.org/drawingml/2006/main">
              <a:ext uri="{FF2B5EF4-FFF2-40B4-BE49-F238E27FC236}">
                <a16:creationId xmlns:a16="http://schemas.microsoft.com/office/drawing/2014/main" id="{E5B6611A-B92D-4C92-9CBB-6912009D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5D9"/>
                </a:solidFill>
              </a:defRPr>
            </a:pPr>
            <a:r>
              <a:rPr sz="1050" b="1">
                <a:solidFill>
                  <a:srgbClr val="1455D9"/>
                </a:solidFill>
              </a:rPr>
              <a:t>01 · 业务闭环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C29F27F-975C-4BDB-8C63-6BA714A8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真正的痛点不是发现坏模型，而是安全地交付好模型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96F77CE2-4C16-4EC8-A89D-04F653B6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eedback-2">
            <a:extLst xmlns:a="http://schemas.openxmlformats.org/drawingml/2006/main">
              <a:ext uri="{FF2B5EF4-FFF2-40B4-BE49-F238E27FC236}">
                <a16:creationId xmlns:a16="http://schemas.microsoft.com/office/drawing/2014/main" id="{2A39ECCB-1614-415D-9E5F-BF663D65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2038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edback-label-2">
            <a:extLst xmlns:a="http://schemas.openxmlformats.org/drawingml/2006/main">
              <a:ext uri="{FF2B5EF4-FFF2-40B4-BE49-F238E27FC236}">
                <a16:creationId xmlns:a16="http://schemas.microsoft.com/office/drawing/2014/main" id="{9380351D-646F-40C0-9DE5-92D0A859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复赛新增：量化价值</a:t>
            </a:r>
          </a:p>
        </p:txBody>
      </p:sp>
      <p:sp>
        <p:nvSpPr>
          <p:cNvPr id="6" name="problem-user">
            <a:extLst xmlns:a="http://schemas.openxmlformats.org/drawingml/2006/main">
              <a:ext uri="{FF2B5EF4-FFF2-40B4-BE49-F238E27FC236}">
                <a16:creationId xmlns:a16="http://schemas.microsoft.com/office/drawing/2014/main" id="{3DCAEB14-5664-48E9-9F37-C1D18643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55D9"/>
                </a:solidFill>
              </a:defRPr>
            </a:pPr>
            <a:r>
              <a:rPr sz="1125" b="1">
                <a:solidFill>
                  <a:srgbClr val="1455D9"/>
                </a:solidFill>
              </a:rPr>
              <a:t>目标用户</a:t>
            </a:r>
          </a:p>
        </p:txBody>
      </p:sp>
      <p:sp>
        <p:nvSpPr>
          <p:cNvPr id="7" name="problem-users">
            <a:extLst xmlns:a="http://schemas.openxmlformats.org/drawingml/2006/main">
              <a:ext uri="{FF2B5EF4-FFF2-40B4-BE49-F238E27FC236}">
                <a16:creationId xmlns:a16="http://schemas.microsoft.com/office/drawing/2014/main" id="{23AEDD4E-DB24-4187-9CEE-5B3EE46E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游戏 / XR</a:t>
            </a:r>
          </a:p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三维电商</a:t>
            </a:r>
          </a:p>
          <a:p xmlns:a="http://schemas.openxmlformats.org/drawingml/2006/main"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数字孪生与仿真</a:t>
            </a:r>
          </a:p>
        </p:txBody>
      </p:sp>
      <p:sp>
        <p:nvSpPr>
          <p:cNvPr id="8" name="problem-divider">
            <a:extLst xmlns:a="http://schemas.openxmlformats.org/drawingml/2006/main">
              <a:ext uri="{FF2B5EF4-FFF2-40B4-BE49-F238E27FC236}">
                <a16:creationId xmlns:a16="http://schemas.microsoft.com/office/drawing/2014/main" id="{2800C4CB-3340-4069-85B6-24A0DB21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blem-pain-label">
            <a:extLst xmlns:a="http://schemas.openxmlformats.org/drawingml/2006/main">
              <a:ext uri="{FF2B5EF4-FFF2-40B4-BE49-F238E27FC236}">
                <a16:creationId xmlns:a16="http://schemas.microsoft.com/office/drawing/2014/main" id="{3259FFC9-C185-4971-8A94-9748BBF0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95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交付链上的四个风险</a:t>
            </a:r>
          </a:p>
        </p:txBody>
      </p:sp>
      <p:sp>
        <p:nvSpPr>
          <p:cNvPr id="10" name="pain-no-0">
            <a:extLst xmlns:a="http://schemas.openxmlformats.org/drawingml/2006/main">
              <a:ext uri="{FF2B5EF4-FFF2-40B4-BE49-F238E27FC236}">
                <a16:creationId xmlns:a16="http://schemas.microsoft.com/office/drawing/2014/main" id="{D96F553C-6A1F-428B-8170-24A8A10A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3645"/>
                </a:solidFill>
              </a:defRPr>
            </a:pPr>
            <a:r>
              <a:rPr sz="1275" b="1">
                <a:solidFill>
                  <a:srgbClr val="E33645"/>
                </a:solidFill>
              </a:rPr>
              <a:t>01</a:t>
            </a:r>
          </a:p>
        </p:txBody>
      </p:sp>
      <p:sp>
        <p:nvSpPr>
          <p:cNvPr id="11" name="pain-title-0">
            <a:extLst xmlns:a="http://schemas.openxmlformats.org/drawingml/2006/main">
              <a:ext uri="{FF2B5EF4-FFF2-40B4-BE49-F238E27FC236}">
                <a16:creationId xmlns:a16="http://schemas.microsoft.com/office/drawing/2014/main" id="{76E4D18E-EE38-46FA-8B54-B828026B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526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格式或引用损坏</a:t>
            </a:r>
          </a:p>
        </p:txBody>
      </p:sp>
      <p:sp>
        <p:nvSpPr>
          <p:cNvPr id="12" name="pain-copy-0">
            <a:extLst xmlns:a="http://schemas.openxmlformats.org/drawingml/2006/main">
              <a:ext uri="{FF2B5EF4-FFF2-40B4-BE49-F238E27FC236}">
                <a16:creationId xmlns:a16="http://schemas.microsoft.com/office/drawing/2014/main" id="{303AB92F-047C-496E-B4D6-B024337E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574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4"/>
                </a:solidFill>
              </a:defRPr>
            </a:pPr>
            <a:r>
              <a:rPr sz="1050" b="0">
                <a:solidFill>
                  <a:srgbClr val="5B6474"/>
                </a:solidFill>
              </a:rPr>
              <a:t>进入引擎后才暴露</a:t>
            </a:r>
          </a:p>
        </p:txBody>
      </p:sp>
      <p:sp>
        <p:nvSpPr>
          <p:cNvPr id="13" name="pain-rule-0">
            <a:extLst xmlns:a="http://schemas.openxmlformats.org/drawingml/2006/main">
              <a:ext uri="{FF2B5EF4-FFF2-40B4-BE49-F238E27FC236}">
                <a16:creationId xmlns:a16="http://schemas.microsoft.com/office/drawing/2014/main" id="{FE52672D-B9FC-427C-AD0A-32A70204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in-no-1">
            <a:extLst xmlns:a="http://schemas.openxmlformats.org/drawingml/2006/main">
              <a:ext uri="{FF2B5EF4-FFF2-40B4-BE49-F238E27FC236}">
                <a16:creationId xmlns:a16="http://schemas.microsoft.com/office/drawing/2014/main" id="{5BD92E39-C5F8-423B-9572-8BA2A03F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3645"/>
                </a:solidFill>
              </a:defRPr>
            </a:pPr>
            <a:r>
              <a:rPr sz="1275" b="1">
                <a:solidFill>
                  <a:srgbClr val="E33645"/>
                </a:solidFill>
              </a:rPr>
              <a:t>02</a:t>
            </a:r>
          </a:p>
        </p:txBody>
      </p:sp>
      <p:sp>
        <p:nvSpPr>
          <p:cNvPr id="15" name="pain-title-1">
            <a:extLst xmlns:a="http://schemas.openxmlformats.org/drawingml/2006/main">
              <a:ext uri="{FF2B5EF4-FFF2-40B4-BE49-F238E27FC236}">
                <a16:creationId xmlns:a16="http://schemas.microsoft.com/office/drawing/2014/main" id="{39122227-FB91-47F0-AAC0-3B123EDA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修复越权</a:t>
            </a:r>
          </a:p>
        </p:txBody>
      </p:sp>
      <p:sp>
        <p:nvSpPr>
          <p:cNvPr id="16" name="pain-copy-1">
            <a:extLst xmlns:a="http://schemas.openxmlformats.org/drawingml/2006/main">
              <a:ext uri="{FF2B5EF4-FFF2-40B4-BE49-F238E27FC236}">
                <a16:creationId xmlns:a16="http://schemas.microsoft.com/office/drawing/2014/main" id="{1CA58917-7ACE-416C-BD46-1B8531AE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575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4"/>
                </a:solidFill>
              </a:defRPr>
            </a:pPr>
            <a:r>
              <a:rPr sz="1050" b="0">
                <a:solidFill>
                  <a:srgbClr val="5B6474"/>
                </a:solidFill>
              </a:rPr>
              <a:t>模型输出直接改资产</a:t>
            </a:r>
          </a:p>
        </p:txBody>
      </p:sp>
      <p:sp>
        <p:nvSpPr>
          <p:cNvPr id="17" name="pain-rule-1">
            <a:extLst xmlns:a="http://schemas.openxmlformats.org/drawingml/2006/main">
              <a:ext uri="{FF2B5EF4-FFF2-40B4-BE49-F238E27FC236}">
                <a16:creationId xmlns:a16="http://schemas.microsoft.com/office/drawing/2014/main" id="{BD0EEFCE-2D3B-43B0-9A40-820BC823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in-no-2">
            <a:extLst xmlns:a="http://schemas.openxmlformats.org/drawingml/2006/main">
              <a:ext uri="{FF2B5EF4-FFF2-40B4-BE49-F238E27FC236}">
                <a16:creationId xmlns:a16="http://schemas.microsoft.com/office/drawing/2014/main" id="{1A424F19-800C-43FC-8BF8-8F9E4FE6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3645"/>
                </a:solidFill>
              </a:defRPr>
            </a:pPr>
            <a:r>
              <a:rPr sz="1275" b="1">
                <a:solidFill>
                  <a:srgbClr val="E33645"/>
                </a:solidFill>
              </a:rPr>
              <a:t>03</a:t>
            </a:r>
          </a:p>
        </p:txBody>
      </p:sp>
      <p:sp>
        <p:nvSpPr>
          <p:cNvPr id="19" name="pain-title-2">
            <a:extLst xmlns:a="http://schemas.openxmlformats.org/drawingml/2006/main">
              <a:ext uri="{FF2B5EF4-FFF2-40B4-BE49-F238E27FC236}">
                <a16:creationId xmlns:a16="http://schemas.microsoft.com/office/drawing/2014/main" id="{18A7B455-93EA-4381-8CBF-455DAC9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错误发布</a:t>
            </a:r>
          </a:p>
        </p:txBody>
      </p:sp>
      <p:sp>
        <p:nvSpPr>
          <p:cNvPr id="20" name="pain-copy-2">
            <a:extLst xmlns:a="http://schemas.openxmlformats.org/drawingml/2006/main">
              <a:ext uri="{FF2B5EF4-FFF2-40B4-BE49-F238E27FC236}">
                <a16:creationId xmlns:a16="http://schemas.microsoft.com/office/drawing/2014/main" id="{BE412117-D461-42AE-8EFF-FB3D98EF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4"/>
                </a:solidFill>
              </a:defRPr>
            </a:pPr>
            <a:r>
              <a:rPr sz="1050" b="0">
                <a:solidFill>
                  <a:srgbClr val="5B6474"/>
                </a:solidFill>
              </a:rPr>
              <a:t>没有独立复验与回滚</a:t>
            </a:r>
          </a:p>
        </p:txBody>
      </p:sp>
      <p:sp>
        <p:nvSpPr>
          <p:cNvPr id="21" name="pain-rule-2">
            <a:extLst xmlns:a="http://schemas.openxmlformats.org/drawingml/2006/main">
              <a:ext uri="{FF2B5EF4-FFF2-40B4-BE49-F238E27FC236}">
                <a16:creationId xmlns:a16="http://schemas.microsoft.com/office/drawing/2014/main" id="{9D9D8BBC-A6E2-4104-ABE4-207C724A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005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in-no-3">
            <a:extLst xmlns:a="http://schemas.openxmlformats.org/drawingml/2006/main">
              <a:ext uri="{FF2B5EF4-FFF2-40B4-BE49-F238E27FC236}">
                <a16:creationId xmlns:a16="http://schemas.microsoft.com/office/drawing/2014/main" id="{77F41AA7-7E86-4682-A640-B2F7E14F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33645"/>
                </a:solidFill>
              </a:defRPr>
            </a:pPr>
            <a:r>
              <a:rPr sz="1275" b="1">
                <a:solidFill>
                  <a:srgbClr val="E33645"/>
                </a:solidFill>
              </a:rPr>
              <a:t>04</a:t>
            </a:r>
          </a:p>
        </p:txBody>
      </p:sp>
      <p:sp>
        <p:nvSpPr>
          <p:cNvPr id="23" name="pain-title-3">
            <a:extLst xmlns:a="http://schemas.openxmlformats.org/drawingml/2006/main">
              <a:ext uri="{FF2B5EF4-FFF2-40B4-BE49-F238E27FC236}">
                <a16:creationId xmlns:a16="http://schemas.microsoft.com/office/drawing/2014/main" id="{250FDB78-6EB4-45E6-A5A6-8FCA82F9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证据断裂</a:t>
            </a:r>
          </a:p>
        </p:txBody>
      </p:sp>
      <p:sp>
        <p:nvSpPr>
          <p:cNvPr id="24" name="pain-copy-3">
            <a:extLst xmlns:a="http://schemas.openxmlformats.org/drawingml/2006/main">
              <a:ext uri="{FF2B5EF4-FFF2-40B4-BE49-F238E27FC236}">
                <a16:creationId xmlns:a16="http://schemas.microsoft.com/office/drawing/2014/main" id="{F22E317A-5DAB-46C1-918F-B6D8C9C8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577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4"/>
                </a:solidFill>
              </a:defRPr>
            </a:pPr>
            <a:r>
              <a:rPr sz="1050" b="0">
                <a:solidFill>
                  <a:srgbClr val="5B6474"/>
                </a:solidFill>
              </a:rPr>
              <a:t>无法回答谁、何时、为何发布</a:t>
            </a:r>
          </a:p>
        </p:txBody>
      </p:sp>
      <p:sp>
        <p:nvSpPr>
          <p:cNvPr id="25" name="pain-rule-3">
            <a:extLst xmlns:a="http://schemas.openxmlformats.org/drawingml/2006/main">
              <a:ext uri="{FF2B5EF4-FFF2-40B4-BE49-F238E27FC236}">
                <a16:creationId xmlns:a16="http://schemas.microsoft.com/office/drawing/2014/main" id="{D8CFFC18-CC93-42C0-84A0-2E9D3CAF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006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value-divider">
            <a:extLst xmlns:a="http://schemas.openxmlformats.org/drawingml/2006/main">
              <a:ext uri="{FF2B5EF4-FFF2-40B4-BE49-F238E27FC236}">
                <a16:creationId xmlns:a16="http://schemas.microsoft.com/office/drawing/2014/main" id="{AD4E1E6F-F674-4F62-A206-9074AC5C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-agents-value">
            <a:extLst xmlns:a="http://schemas.openxmlformats.org/drawingml/2006/main">
              <a:ext uri="{FF2B5EF4-FFF2-40B4-BE49-F238E27FC236}">
                <a16:creationId xmlns:a16="http://schemas.microsoft.com/office/drawing/2014/main" id="{6A5FFAE1-42BD-4153-BCAF-32C7DA76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55D9"/>
                </a:solidFill>
              </a:defRPr>
            </a:pPr>
            <a:r>
              <a:rPr sz="2850" b="1">
                <a:solidFill>
                  <a:srgbClr val="1455D9"/>
                </a:solidFill>
              </a:rPr>
              <a:t>5</a:t>
            </a:r>
          </a:p>
        </p:txBody>
      </p:sp>
      <p:sp>
        <p:nvSpPr>
          <p:cNvPr id="28" name="m-agents-label">
            <a:extLst xmlns:a="http://schemas.openxmlformats.org/drawingml/2006/main">
              <a:ext uri="{FF2B5EF4-FFF2-40B4-BE49-F238E27FC236}">
                <a16:creationId xmlns:a16="http://schemas.microsoft.com/office/drawing/2014/main" id="{ADE16451-4122-4B5E-A330-702973E3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384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明确身份的 Agent</a:t>
            </a:r>
          </a:p>
        </p:txBody>
      </p:sp>
      <p:sp>
        <p:nvSpPr>
          <p:cNvPr id="29" name="m-skills-value">
            <a:extLst xmlns:a="http://schemas.openxmlformats.org/drawingml/2006/main">
              <a:ext uri="{FF2B5EF4-FFF2-40B4-BE49-F238E27FC236}">
                <a16:creationId xmlns:a16="http://schemas.microsoft.com/office/drawing/2014/main" id="{4FEF4EE3-CA2C-4E4E-B5CB-033D2082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240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55D9"/>
                </a:solidFill>
              </a:defRPr>
            </a:pPr>
            <a:r>
              <a:rPr sz="2850" b="1">
                <a:solidFill>
                  <a:srgbClr val="1455D9"/>
                </a:solidFill>
              </a:rPr>
              <a:t>7</a:t>
            </a:r>
          </a:p>
        </p:txBody>
      </p:sp>
      <p:sp>
        <p:nvSpPr>
          <p:cNvPr id="30" name="m-skills-label">
            <a:extLst xmlns:a="http://schemas.openxmlformats.org/drawingml/2006/main">
              <a:ext uri="{FF2B5EF4-FFF2-40B4-BE49-F238E27FC236}">
                <a16:creationId xmlns:a16="http://schemas.microsoft.com/office/drawing/2014/main" id="{C3E3E947-CBDF-4612-8158-50C57031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384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版本化核心 Skill</a:t>
            </a:r>
          </a:p>
        </p:txBody>
      </p:sp>
      <p:sp>
        <p:nvSpPr>
          <p:cNvPr id="31" name="m-assets-value">
            <a:extLst xmlns:a="http://schemas.openxmlformats.org/drawingml/2006/main">
              <a:ext uri="{FF2B5EF4-FFF2-40B4-BE49-F238E27FC236}">
                <a16:creationId xmlns:a16="http://schemas.microsoft.com/office/drawing/2014/main" id="{D6F9AF14-54CF-4801-BAC4-E4565145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A5A"/>
                </a:solidFill>
              </a:defRPr>
            </a:pPr>
            <a:r>
              <a:rPr sz="2850" b="1">
                <a:solidFill>
                  <a:srgbClr val="008A5A"/>
                </a:solidFill>
              </a:rPr>
              <a:t>15</a:t>
            </a:r>
          </a:p>
        </p:txBody>
      </p:sp>
      <p:sp>
        <p:nvSpPr>
          <p:cNvPr id="32" name="m-assets-label">
            <a:extLst xmlns:a="http://schemas.openxmlformats.org/drawingml/2006/main">
              <a:ext uri="{FF2B5EF4-FFF2-40B4-BE49-F238E27FC236}">
                <a16:creationId xmlns:a16="http://schemas.microsoft.com/office/drawing/2014/main" id="{73127AA7-E738-4634-A596-9BB603CC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671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可复验 GLB 样本</a:t>
            </a:r>
          </a:p>
        </p:txBody>
      </p:sp>
      <p:sp>
        <p:nvSpPr>
          <p:cNvPr id="33" name="m-api-value">
            <a:extLst xmlns:a="http://schemas.openxmlformats.org/drawingml/2006/main">
              <a:ext uri="{FF2B5EF4-FFF2-40B4-BE49-F238E27FC236}">
                <a16:creationId xmlns:a16="http://schemas.microsoft.com/office/drawing/2014/main" id="{929E9A89-8E08-4D3C-B475-29CB9579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528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A5A"/>
                </a:solidFill>
              </a:defRPr>
            </a:pPr>
            <a:r>
              <a:rPr sz="2850" b="1">
                <a:solidFill>
                  <a:srgbClr val="008A5A"/>
                </a:solidFill>
              </a:rPr>
              <a:t>15</a:t>
            </a:r>
          </a:p>
        </p:txBody>
      </p:sp>
      <p:sp>
        <p:nvSpPr>
          <p:cNvPr id="34" name="m-api-label">
            <a:extLst xmlns:a="http://schemas.openxmlformats.org/drawingml/2006/main">
              <a:ext uri="{FF2B5EF4-FFF2-40B4-BE49-F238E27FC236}">
                <a16:creationId xmlns:a16="http://schemas.microsoft.com/office/drawing/2014/main" id="{A4893908-3776-4F09-A0E2-CE3FC0B3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671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真实 HTTP 工具接口</a:t>
            </a:r>
          </a:p>
        </p:txBody>
      </p:sp>
      <p:sp>
        <p:nvSpPr>
          <p:cNvPr id="35" name="no-roi">
            <a:extLst xmlns:a="http://schemas.openxmlformats.org/drawingml/2006/main">
              <a:ext uri="{FF2B5EF4-FFF2-40B4-BE49-F238E27FC236}">
                <a16:creationId xmlns:a16="http://schemas.microsoft.com/office/drawing/2014/main" id="{E70B24D6-74B2-4988-9C6E-464D8D09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57750"/>
            <a:ext cx="29146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no-roi-text">
            <a:extLst xmlns:a="http://schemas.openxmlformats.org/drawingml/2006/main">
              <a:ext uri="{FF2B5EF4-FFF2-40B4-BE49-F238E27FC236}">
                <a16:creationId xmlns:a16="http://schemas.microsoft.com/office/drawing/2014/main" id="{1BDED0A5-39AC-4BCA-9D63-8A2B97FD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10150"/>
            <a:ext cx="2609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未完成人工基线前，不虚构 ROI</a:t>
            </a:r>
          </a:p>
        </p:txBody>
      </p:sp>
      <p:sp>
        <p:nvSpPr>
          <p:cNvPr id="37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30134188-D117-4E68-8C34-34E0C6CB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ooter-stage-2">
            <a:extLst xmlns:a="http://schemas.openxmlformats.org/drawingml/2006/main">
              <a:ext uri="{FF2B5EF4-FFF2-40B4-BE49-F238E27FC236}">
                <a16:creationId xmlns:a16="http://schemas.microsoft.com/office/drawing/2014/main" id="{3C86BC9D-3501-4BBF-8EA6-936B24FE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INPUT → QUALITY GATE → VERIFIED DELIVERY</a:t>
            </a:r>
          </a:p>
        </p:txBody>
      </p:sp>
      <p:sp>
        <p:nvSpPr>
          <p:cNvPr id="3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37628629-D5E4-4B88-8E94-ADEB63FF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2F73"/>
                </a:solidFill>
              </a:defRPr>
            </a:pPr>
            <a:r>
              <a:rPr sz="900" b="1">
                <a:solidFill>
                  <a:srgbClr val="0A2F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5178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kicker-3">
            <a:extLst xmlns:a="http://schemas.openxmlformats.org/drawingml/2006/main">
              <a:ext uri="{FF2B5EF4-FFF2-40B4-BE49-F238E27FC236}">
                <a16:creationId xmlns:a16="http://schemas.microsoft.com/office/drawing/2014/main" id="{DDD0EC7E-CC31-442A-8CC3-C1195E66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5D9"/>
                </a:solidFill>
              </a:defRPr>
            </a:pPr>
            <a:r>
              <a:rPr sz="1050" b="1">
                <a:solidFill>
                  <a:srgbClr val="1455D9"/>
                </a:solidFill>
              </a:rPr>
              <a:t>02 · 场景闭环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AFA13EA-F97D-45FB-8A91-1F9846FB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一份资产从来源到发布，全程只有一条可追溯链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8B69EFDC-9159-4AB3-AED3-31B0DBB6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eedback-3">
            <a:extLst xmlns:a="http://schemas.openxmlformats.org/drawingml/2006/main">
              <a:ext uri="{FF2B5EF4-FFF2-40B4-BE49-F238E27FC236}">
                <a16:creationId xmlns:a16="http://schemas.microsoft.com/office/drawing/2014/main" id="{CC1F8D24-E2B1-47EC-BC8F-B0B21C9E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2038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edback-label-3">
            <a:extLst xmlns:a="http://schemas.openxmlformats.org/drawingml/2006/main">
              <a:ext uri="{FF2B5EF4-FFF2-40B4-BE49-F238E27FC236}">
                <a16:creationId xmlns:a16="http://schemas.microsoft.com/office/drawing/2014/main" id="{309AFE1E-22F8-4AE6-B886-DAB41F17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复赛新增：场景闭环图</a:t>
            </a:r>
          </a:p>
        </p:txBody>
      </p:sp>
      <p:sp>
        <p:nvSpPr>
          <p:cNvPr id="6" name="flow-spine">
            <a:extLst xmlns:a="http://schemas.openxmlformats.org/drawingml/2006/main">
              <a:ext uri="{FF2B5EF4-FFF2-40B4-BE49-F238E27FC236}">
                <a16:creationId xmlns:a16="http://schemas.microsoft.com/office/drawing/2014/main" id="{5818CA8A-D030-47DC-8946-BDC5C3F0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981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dot-0">
            <a:extLst xmlns:a="http://schemas.openxmlformats.org/drawingml/2006/main">
              <a:ext uri="{FF2B5EF4-FFF2-40B4-BE49-F238E27FC236}">
                <a16:creationId xmlns:a16="http://schemas.microsoft.com/office/drawing/2014/main" id="{1CEF7CBD-E429-451A-BA11-58F29400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no-0">
            <a:extLst xmlns:a="http://schemas.openxmlformats.org/drawingml/2006/main">
              <a:ext uri="{FF2B5EF4-FFF2-40B4-BE49-F238E27FC236}">
                <a16:creationId xmlns:a16="http://schemas.microsoft.com/office/drawing/2014/main" id="{FC039032-57ED-43EC-892B-7B78983A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56367175-1A9F-4178-9463-0F6AE276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真实来源</a:t>
            </a:r>
          </a:p>
        </p:txBody>
      </p:sp>
      <p:sp>
        <p:nvSpPr>
          <p:cNvPr id="10" name="flow-copy-0">
            <a:extLst xmlns:a="http://schemas.openxmlformats.org/drawingml/2006/main">
              <a:ext uri="{FF2B5EF4-FFF2-40B4-BE49-F238E27FC236}">
                <a16:creationId xmlns:a16="http://schemas.microsoft.com/office/drawing/2014/main" id="{7A017965-08A7-43AF-A2AD-66FD5DB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GitHub / Khronos</a:t>
            </a:r>
          </a:p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作者·许可·SHA</a:t>
            </a:r>
          </a:p>
        </p:txBody>
      </p:sp>
      <p:sp>
        <p:nvSpPr>
          <p:cNvPr id="11" name="flow-dot-1">
            <a:extLst xmlns:a="http://schemas.openxmlformats.org/drawingml/2006/main">
              <a:ext uri="{FF2B5EF4-FFF2-40B4-BE49-F238E27FC236}">
                <a16:creationId xmlns:a16="http://schemas.microsoft.com/office/drawing/2014/main" id="{A6762161-6722-42D9-980C-E370B612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no-1">
            <a:extLst xmlns:a="http://schemas.openxmlformats.org/drawingml/2006/main">
              <a:ext uri="{FF2B5EF4-FFF2-40B4-BE49-F238E27FC236}">
                <a16:creationId xmlns:a16="http://schemas.microsoft.com/office/drawing/2014/main" id="{152102AD-24B5-4D5B-9984-25186DA6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38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2BA0B729-F7BE-44B2-98D4-3A41DBDE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145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受控输入</a:t>
            </a:r>
          </a:p>
        </p:txBody>
      </p:sp>
      <p:sp>
        <p:nvSpPr>
          <p:cNvPr id="14" name="flow-copy-1">
            <a:extLst xmlns:a="http://schemas.openxmlformats.org/drawingml/2006/main">
              <a:ext uri="{FF2B5EF4-FFF2-40B4-BE49-F238E27FC236}">
                <a16:creationId xmlns:a16="http://schemas.microsoft.com/office/drawing/2014/main" id="{74C36A76-B326-46CA-ABEE-2FA19454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Profile 绑定</a:t>
            </a:r>
          </a:p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原件只读</a:t>
            </a:r>
          </a:p>
        </p:txBody>
      </p:sp>
      <p:sp>
        <p:nvSpPr>
          <p:cNvPr id="15" name="flow-dot-2">
            <a:extLst xmlns:a="http://schemas.openxmlformats.org/drawingml/2006/main">
              <a:ext uri="{FF2B5EF4-FFF2-40B4-BE49-F238E27FC236}">
                <a16:creationId xmlns:a16="http://schemas.microsoft.com/office/drawing/2014/main" id="{91237DF4-830E-4DD6-A024-C5CDBF43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no-2">
            <a:extLst xmlns:a="http://schemas.openxmlformats.org/drawingml/2006/main">
              <a:ext uri="{FF2B5EF4-FFF2-40B4-BE49-F238E27FC236}">
                <a16:creationId xmlns:a16="http://schemas.microsoft.com/office/drawing/2014/main" id="{62218D7E-BA1D-4DF1-A871-5A5E96C6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38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15F22068-E370-4912-8C42-5151D8BE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AgentTeams</a:t>
            </a:r>
          </a:p>
        </p:txBody>
      </p:sp>
      <p:sp>
        <p:nvSpPr>
          <p:cNvPr id="18" name="flow-copy-2">
            <a:extLst xmlns:a="http://schemas.openxmlformats.org/drawingml/2006/main">
              <a:ext uri="{FF2B5EF4-FFF2-40B4-BE49-F238E27FC236}">
                <a16:creationId xmlns:a16="http://schemas.microsoft.com/office/drawing/2014/main" id="{84C9A58A-6CAC-47FE-95B9-7C2C4290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862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拆解·传递</a:t>
            </a:r>
          </a:p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状态追踪</a:t>
            </a:r>
          </a:p>
        </p:txBody>
      </p:sp>
      <p:sp>
        <p:nvSpPr>
          <p:cNvPr id="19" name="flow-dot-3">
            <a:extLst xmlns:a="http://schemas.openxmlformats.org/drawingml/2006/main">
              <a:ext uri="{FF2B5EF4-FFF2-40B4-BE49-F238E27FC236}">
                <a16:creationId xmlns:a16="http://schemas.microsoft.com/office/drawing/2014/main" id="{F812F069-7C59-418E-8ABE-0CD6D971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no-3">
            <a:extLst xmlns:a="http://schemas.openxmlformats.org/drawingml/2006/main">
              <a:ext uri="{FF2B5EF4-FFF2-40B4-BE49-F238E27FC236}">
                <a16:creationId xmlns:a16="http://schemas.microsoft.com/office/drawing/2014/main" id="{1E50F7BB-451F-47A9-8948-FB6B81FD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0E4A7C44-3762-4DB5-A638-EF7A041C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安全修复</a:t>
            </a:r>
          </a:p>
        </p:txBody>
      </p:sp>
      <p:sp>
        <p:nvSpPr>
          <p:cNvPr id="22" name="flow-copy-3">
            <a:extLst xmlns:a="http://schemas.openxmlformats.org/drawingml/2006/main">
              <a:ext uri="{FF2B5EF4-FFF2-40B4-BE49-F238E27FC236}">
                <a16:creationId xmlns:a16="http://schemas.microsoft.com/office/drawing/2014/main" id="{EE3E64F4-2753-4B09-ABB0-A578D026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白名单操作</a:t>
            </a:r>
          </a:p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Checkpoint</a:t>
            </a:r>
          </a:p>
        </p:txBody>
      </p:sp>
      <p:sp>
        <p:nvSpPr>
          <p:cNvPr id="23" name="flow-dot-4">
            <a:extLst xmlns:a="http://schemas.openxmlformats.org/drawingml/2006/main">
              <a:ext uri="{FF2B5EF4-FFF2-40B4-BE49-F238E27FC236}">
                <a16:creationId xmlns:a16="http://schemas.microsoft.com/office/drawing/2014/main" id="{E02D10FF-27CB-4953-8049-253BFF91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A2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no-4">
            <a:extLst xmlns:a="http://schemas.openxmlformats.org/drawingml/2006/main">
              <a:ext uri="{FF2B5EF4-FFF2-40B4-BE49-F238E27FC236}">
                <a16:creationId xmlns:a16="http://schemas.microsoft.com/office/drawing/2014/main" id="{456D7443-3C95-4FE6-B597-011297A3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38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flow-title-4">
            <a:extLst xmlns:a="http://schemas.openxmlformats.org/drawingml/2006/main">
              <a:ext uri="{FF2B5EF4-FFF2-40B4-BE49-F238E27FC236}">
                <a16:creationId xmlns:a16="http://schemas.microsoft.com/office/drawing/2014/main" id="{9317D406-7E23-45E4-B53A-A9A3B151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独立复验</a:t>
            </a:r>
          </a:p>
        </p:txBody>
      </p:sp>
      <p:sp>
        <p:nvSpPr>
          <p:cNvPr id="26" name="flow-copy-4">
            <a:extLst xmlns:a="http://schemas.openxmlformats.org/drawingml/2006/main">
              <a:ext uri="{FF2B5EF4-FFF2-40B4-BE49-F238E27FC236}">
                <a16:creationId xmlns:a16="http://schemas.microsoft.com/office/drawing/2014/main" id="{3D384F88-D55B-4DC1-9509-1AD8D788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862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Regression</a:t>
            </a:r>
          </a:p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发布或回滚</a:t>
            </a:r>
          </a:p>
        </p:txBody>
      </p:sp>
      <p:sp>
        <p:nvSpPr>
          <p:cNvPr id="27" name="flow-dot-5">
            <a:extLst xmlns:a="http://schemas.openxmlformats.org/drawingml/2006/main">
              <a:ext uri="{FF2B5EF4-FFF2-40B4-BE49-F238E27FC236}">
                <a16:creationId xmlns:a16="http://schemas.microsoft.com/office/drawing/2014/main" id="{3823FC14-5D27-4246-9652-70482DBC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105150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8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ow-no-5">
            <a:extLst xmlns:a="http://schemas.openxmlformats.org/drawingml/2006/main">
              <a:ext uri="{FF2B5EF4-FFF2-40B4-BE49-F238E27FC236}">
                <a16:creationId xmlns:a16="http://schemas.microsoft.com/office/drawing/2014/main" id="{46F80F54-E43B-45D0-86DC-0F5F4362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flow-title-5">
            <a:extLst xmlns:a="http://schemas.openxmlformats.org/drawingml/2006/main">
              <a:ext uri="{FF2B5EF4-FFF2-40B4-BE49-F238E27FC236}">
                <a16:creationId xmlns:a16="http://schemas.microsoft.com/office/drawing/2014/main" id="{4C2B821F-1710-4F6F-B9E3-7C78BE00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145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证据交付</a:t>
            </a:r>
          </a:p>
        </p:txBody>
      </p:sp>
      <p:sp>
        <p:nvSpPr>
          <p:cNvPr id="30" name="flow-copy-5">
            <a:extLst xmlns:a="http://schemas.openxmlformats.org/drawingml/2006/main">
              <a:ext uri="{FF2B5EF4-FFF2-40B4-BE49-F238E27FC236}">
                <a16:creationId xmlns:a16="http://schemas.microsoft.com/office/drawing/2014/main" id="{7C525DDD-6658-4175-A049-8C8BED36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86200"/>
            <a:ext cx="148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Trace·Metrics</a:t>
            </a:r>
          </a:p>
          <a:p xmlns:a="http://schemas.openxmlformats.org/drawingml/2006/main">
            <a:pPr algn="ct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Attestation</a:t>
            </a:r>
          </a:p>
        </p:txBody>
      </p:sp>
      <p:sp>
        <p:nvSpPr>
          <p:cNvPr id="31" name="flow-boundary">
            <a:extLst xmlns:a="http://schemas.openxmlformats.org/drawingml/2006/main">
              <a:ext uri="{FF2B5EF4-FFF2-40B4-BE49-F238E27FC236}">
                <a16:creationId xmlns:a16="http://schemas.microsoft.com/office/drawing/2014/main" id="{649F86E2-08EF-4BD9-8198-7B8C10F4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85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E1"/>
            </a:solidFill>
            <a:prstDash val="solid"/>
          </a:ln>
        </p:spPr>
      </p:sp>
      <p:sp>
        <p:nvSpPr>
          <p:cNvPr id="32" name="flow-boundary-label">
            <a:extLst xmlns:a="http://schemas.openxmlformats.org/drawingml/2006/main">
              <a:ext uri="{FF2B5EF4-FFF2-40B4-BE49-F238E27FC236}">
                <a16:creationId xmlns:a16="http://schemas.microsoft.com/office/drawing/2014/main" id="{67F8ED46-F937-4963-82A5-7547FF90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530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33645"/>
                </a:solidFill>
              </a:defRPr>
            </a:pPr>
            <a:r>
              <a:rPr sz="1125" b="1">
                <a:solidFill>
                  <a:srgbClr val="E33645"/>
                </a:solidFill>
              </a:rPr>
              <a:t>边界</a:t>
            </a:r>
          </a:p>
        </p:txBody>
      </p:sp>
      <p:sp>
        <p:nvSpPr>
          <p:cNvPr id="33" name="flow-boundary-copy">
            <a:extLst xmlns:a="http://schemas.openxmlformats.org/drawingml/2006/main">
              <a:ext uri="{FF2B5EF4-FFF2-40B4-BE49-F238E27FC236}">
                <a16:creationId xmlns:a16="http://schemas.microsoft.com/office/drawing/2014/main" id="{D0728F62-95A0-43CA-99E6-63AFE34A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33975"/>
            <a:ext cx="979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Agent 做目标与风险路由；Skill 固化能力边界；确定性工具修改文件；Verifier 独立决定发布。</a:t>
            </a:r>
          </a:p>
        </p:txBody>
      </p:sp>
      <p:sp>
        <p:nvSpPr>
          <p:cNvPr id="34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E5884539-13A8-416A-A892-38D44409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ooter-stage-3">
            <a:extLst xmlns:a="http://schemas.openxmlformats.org/drawingml/2006/main">
              <a:ext uri="{FF2B5EF4-FFF2-40B4-BE49-F238E27FC236}">
                <a16:creationId xmlns:a16="http://schemas.microsoft.com/office/drawing/2014/main" id="{68F22A14-4F11-4930-B0AC-E9625AE4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SOURCE HASH → JOB → PROJECT / TASK → PLAN → GATE → RELEASE HASH</a:t>
            </a:r>
          </a:p>
        </p:txBody>
      </p:sp>
      <p:sp>
        <p:nvSpPr>
          <p:cNvPr id="3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7EB82F85-F8BB-466A-8021-53C182A4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2F73"/>
                </a:solidFill>
              </a:defRPr>
            </a:pPr>
            <a:r>
              <a:rPr sz="900" b="1">
                <a:solidFill>
                  <a:srgbClr val="0A2F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79459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-4">
            <a:extLst xmlns:a="http://schemas.openxmlformats.org/drawingml/2006/main">
              <a:ext uri="{FF2B5EF4-FFF2-40B4-BE49-F238E27FC236}">
                <a16:creationId xmlns:a16="http://schemas.microsoft.com/office/drawing/2014/main" id="{4E64C962-3B94-4427-A68F-684B8216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5D9"/>
                </a:solidFill>
              </a:defRPr>
            </a:pPr>
            <a:r>
              <a:rPr sz="1050" b="1">
                <a:solidFill>
                  <a:srgbClr val="1455D9"/>
                </a:solidFill>
              </a:rPr>
              <a:t>03 · AGENT 协同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522541B-2D2B-4CD0-B78C-97FADB85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TeamLeader 拆 DAG，四个 Worker 各守一段权限边界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2BB9B724-F3A8-4977-9F95-E9C07393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eedback-4">
            <a:extLst xmlns:a="http://schemas.openxmlformats.org/drawingml/2006/main">
              <a:ext uri="{FF2B5EF4-FFF2-40B4-BE49-F238E27FC236}">
                <a16:creationId xmlns:a16="http://schemas.microsoft.com/office/drawing/2014/main" id="{FF77D9F1-D555-4EB5-9F0B-74A5E9A1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2038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edback-label-4">
            <a:extLst xmlns:a="http://schemas.openxmlformats.org/drawingml/2006/main">
              <a:ext uri="{FF2B5EF4-FFF2-40B4-BE49-F238E27FC236}">
                <a16:creationId xmlns:a16="http://schemas.microsoft.com/office/drawing/2014/main" id="{7EBE19FE-36B0-4789-8ABA-4B10E744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复赛新增：1+4 实跑</a:t>
            </a:r>
          </a:p>
        </p:txBody>
      </p:sp>
      <p:sp>
        <p:nvSpPr>
          <p:cNvPr id="6" name="arch-spine">
            <a:extLst xmlns:a="http://schemas.openxmlformats.org/drawingml/2006/main">
              <a:ext uri="{FF2B5EF4-FFF2-40B4-BE49-F238E27FC236}">
                <a16:creationId xmlns:a16="http://schemas.microsoft.com/office/drawing/2014/main" id="{4C3467DE-566F-40AC-8933-BE07A8F8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193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eader">
            <a:extLst xmlns:a="http://schemas.openxmlformats.org/drawingml/2006/main">
              <a:ext uri="{FF2B5EF4-FFF2-40B4-BE49-F238E27FC236}">
                <a16:creationId xmlns:a16="http://schemas.microsoft.com/office/drawing/2014/main" id="{C7E703B4-47C0-44C9-977E-1488CBCB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A2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ader-title">
            <a:extLst xmlns:a="http://schemas.openxmlformats.org/drawingml/2006/main">
              <a:ext uri="{FF2B5EF4-FFF2-40B4-BE49-F238E27FC236}">
                <a16:creationId xmlns:a16="http://schemas.microsoft.com/office/drawing/2014/main" id="{D0B68A23-A238-4A2D-9D1F-15866396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288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TeamLeader</a:t>
            </a:r>
          </a:p>
        </p:txBody>
      </p:sp>
      <p:sp>
        <p:nvSpPr>
          <p:cNvPr id="9" name="leader-copy">
            <a:extLst xmlns:a="http://schemas.openxmlformats.org/drawingml/2006/main">
              <a:ext uri="{FF2B5EF4-FFF2-40B4-BE49-F238E27FC236}">
                <a16:creationId xmlns:a16="http://schemas.microsoft.com/office/drawing/2014/main" id="{11D9E085-270E-4F6A-92A9-622E39D7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3360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9D8FF"/>
                </a:solidFill>
              </a:defRPr>
            </a:pPr>
            <a:r>
              <a:rPr sz="975" b="1">
                <a:solidFill>
                  <a:srgbClr val="C9D8FF"/>
                </a:solidFill>
              </a:rPr>
              <a:t>创建 Project / DAG · 委派 · 验收 · 终结</a:t>
            </a:r>
          </a:p>
          <a:p xmlns:a="http://schemas.openxmlformats.org/drawingml/2006/main">
            <a:pPr algn="ctr">
              <a:defRPr sz="975" b="1">
                <a:solidFill>
                  <a:srgbClr val="C9D8FF"/>
                </a:solidFill>
              </a:defRPr>
            </a:pPr>
            <a:r>
              <a:rPr sz="975" b="1">
                <a:solidFill>
                  <a:srgbClr val="C9D8FF"/>
                </a:solidFill>
              </a:rPr>
              <a:t>asset-profile</a:t>
            </a:r>
          </a:p>
        </p:txBody>
      </p:sp>
      <p:sp>
        <p:nvSpPr>
          <p:cNvPr id="10" name="arch-stem-0">
            <a:extLst xmlns:a="http://schemas.openxmlformats.org/drawingml/2006/main">
              <a:ext uri="{FF2B5EF4-FFF2-40B4-BE49-F238E27FC236}">
                <a16:creationId xmlns:a16="http://schemas.microsoft.com/office/drawing/2014/main" id="{D9C08A35-CC4E-4A01-8708-30389A7F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193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0">
            <a:extLst xmlns:a="http://schemas.openxmlformats.org/drawingml/2006/main">
              <a:ext uri="{FF2B5EF4-FFF2-40B4-BE49-F238E27FC236}">
                <a16:creationId xmlns:a16="http://schemas.microsoft.com/office/drawing/2014/main" id="{6F178966-E49B-4AC7-897D-2452BF2E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628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E1"/>
            </a:solidFill>
            <a:prstDash val="solid"/>
          </a:ln>
        </p:spPr>
      </p:sp>
      <p:sp>
        <p:nvSpPr>
          <p:cNvPr id="12" name="agent-title-0">
            <a:extLst xmlns:a="http://schemas.openxmlformats.org/drawingml/2006/main">
              <a:ext uri="{FF2B5EF4-FFF2-40B4-BE49-F238E27FC236}">
                <a16:creationId xmlns:a16="http://schemas.microsoft.com/office/drawing/2014/main" id="{88867C5B-45A5-4430-94A8-8F4506E7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Asset Auditor</a:t>
            </a:r>
          </a:p>
        </p:txBody>
      </p:sp>
      <p:sp>
        <p:nvSpPr>
          <p:cNvPr id="13" name="agent-skill-0">
            <a:extLst xmlns:a="http://schemas.openxmlformats.org/drawingml/2006/main">
              <a:ext uri="{FF2B5EF4-FFF2-40B4-BE49-F238E27FC236}">
                <a16:creationId xmlns:a16="http://schemas.microsoft.com/office/drawing/2014/main" id="{48063851-D3AA-412D-9A30-9102672F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55D9"/>
                </a:solidFill>
              </a:defRPr>
            </a:pPr>
            <a:r>
              <a:rPr sz="1125" b="1">
                <a:solidFill>
                  <a:srgbClr val="1455D9"/>
                </a:solidFill>
              </a:rPr>
              <a:t>package-audit</a:t>
            </a:r>
          </a:p>
          <a:p xmlns:a="http://schemas.openxmlformats.org/drawingml/2006/main">
            <a:pPr algn="ctr">
              <a:defRPr sz="1125" b="1">
                <a:solidFill>
                  <a:srgbClr val="1455D9"/>
                </a:solidFill>
              </a:defRPr>
            </a:pPr>
            <a:r>
              <a:rPr sz="1125" b="1">
                <a:solidFill>
                  <a:srgbClr val="1455D9"/>
                </a:solidFill>
              </a:rPr>
              <a:t>mesh-validate</a:t>
            </a:r>
          </a:p>
        </p:txBody>
      </p:sp>
      <p:sp>
        <p:nvSpPr>
          <p:cNvPr id="14" name="arch-stem-1">
            <a:extLst xmlns:a="http://schemas.openxmlformats.org/drawingml/2006/main">
              <a:ext uri="{FF2B5EF4-FFF2-40B4-BE49-F238E27FC236}">
                <a16:creationId xmlns:a16="http://schemas.microsoft.com/office/drawing/2014/main" id="{74376BD7-645C-46AA-9EE1-3478DC13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193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1">
            <a:extLst xmlns:a="http://schemas.openxmlformats.org/drawingml/2006/main">
              <a:ext uri="{FF2B5EF4-FFF2-40B4-BE49-F238E27FC236}">
                <a16:creationId xmlns:a16="http://schemas.microsoft.com/office/drawing/2014/main" id="{594351E4-5892-4B9B-A9AC-7AF5C51E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95650"/>
            <a:ext cx="2628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E1"/>
            </a:solidFill>
            <a:prstDash val="solid"/>
          </a:ln>
        </p:spPr>
      </p:sp>
      <p:sp>
        <p:nvSpPr>
          <p:cNvPr id="16" name="agent-title-1">
            <a:extLst xmlns:a="http://schemas.openxmlformats.org/drawingml/2006/main">
              <a:ext uri="{FF2B5EF4-FFF2-40B4-BE49-F238E27FC236}">
                <a16:creationId xmlns:a16="http://schemas.microsoft.com/office/drawing/2014/main" id="{C4C905CE-42D2-4414-B3FD-547CE00D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Repair Planner</a:t>
            </a:r>
          </a:p>
        </p:txBody>
      </p:sp>
      <p:sp>
        <p:nvSpPr>
          <p:cNvPr id="17" name="agent-skill-1">
            <a:extLst xmlns:a="http://schemas.openxmlformats.org/drawingml/2006/main">
              <a:ext uri="{FF2B5EF4-FFF2-40B4-BE49-F238E27FC236}">
                <a16:creationId xmlns:a16="http://schemas.microsoft.com/office/drawing/2014/main" id="{C27CC598-A16D-47D8-8203-38A2456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55D9"/>
                </a:solidFill>
              </a:defRPr>
            </a:pPr>
            <a:r>
              <a:rPr sz="1125" b="1">
                <a:solidFill>
                  <a:srgbClr val="1455D9"/>
                </a:solidFill>
              </a:rPr>
              <a:t>repair-plan</a:t>
            </a:r>
          </a:p>
        </p:txBody>
      </p:sp>
      <p:sp>
        <p:nvSpPr>
          <p:cNvPr id="18" name="arch-stem-2">
            <a:extLst xmlns:a="http://schemas.openxmlformats.org/drawingml/2006/main">
              <a:ext uri="{FF2B5EF4-FFF2-40B4-BE49-F238E27FC236}">
                <a16:creationId xmlns:a16="http://schemas.microsoft.com/office/drawing/2014/main" id="{A281106B-C851-466C-A858-8DED6596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193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2">
            <a:extLst xmlns:a="http://schemas.openxmlformats.org/drawingml/2006/main">
              <a:ext uri="{FF2B5EF4-FFF2-40B4-BE49-F238E27FC236}">
                <a16:creationId xmlns:a16="http://schemas.microsoft.com/office/drawing/2014/main" id="{2256299D-F531-47AA-B58A-0A5258A9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95650"/>
            <a:ext cx="2628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E1"/>
            </a:solidFill>
            <a:prstDash val="solid"/>
          </a:ln>
        </p:spPr>
      </p:sp>
      <p:sp>
        <p:nvSpPr>
          <p:cNvPr id="20" name="agent-title-2">
            <a:extLst xmlns:a="http://schemas.openxmlformats.org/drawingml/2006/main">
              <a:ext uri="{FF2B5EF4-FFF2-40B4-BE49-F238E27FC236}">
                <a16:creationId xmlns:a16="http://schemas.microsoft.com/office/drawing/2014/main" id="{986FC9D4-F271-4D7D-9813-875F5723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24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Repair Executor</a:t>
            </a:r>
          </a:p>
        </p:txBody>
      </p:sp>
      <p:sp>
        <p:nvSpPr>
          <p:cNvPr id="21" name="agent-skill-2">
            <a:extLst xmlns:a="http://schemas.openxmlformats.org/drawingml/2006/main">
              <a:ext uri="{FF2B5EF4-FFF2-40B4-BE49-F238E27FC236}">
                <a16:creationId xmlns:a16="http://schemas.microsoft.com/office/drawing/2014/main" id="{C9DA2477-BB7A-4FE5-A265-8C32B3BB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55D9"/>
                </a:solidFill>
              </a:defRPr>
            </a:pPr>
            <a:r>
              <a:rPr sz="1125" b="1">
                <a:solidFill>
                  <a:srgbClr val="1455D9"/>
                </a:solidFill>
              </a:rPr>
              <a:t>mesh-safe-repair</a:t>
            </a:r>
          </a:p>
          <a:p xmlns:a="http://schemas.openxmlformats.org/drawingml/2006/main">
            <a:pPr algn="ctr">
              <a:defRPr sz="1125" b="1">
                <a:solidFill>
                  <a:srgbClr val="1455D9"/>
                </a:solidFill>
              </a:defRPr>
            </a:pPr>
            <a:r>
              <a:rPr sz="1125" b="1">
                <a:solidFill>
                  <a:srgbClr val="1455D9"/>
                </a:solidFill>
              </a:rPr>
              <a:t>texture-safe-resize*</a:t>
            </a:r>
          </a:p>
        </p:txBody>
      </p:sp>
      <p:sp>
        <p:nvSpPr>
          <p:cNvPr id="22" name="arch-stem-3">
            <a:extLst xmlns:a="http://schemas.openxmlformats.org/drawingml/2006/main">
              <a:ext uri="{FF2B5EF4-FFF2-40B4-BE49-F238E27FC236}">
                <a16:creationId xmlns:a16="http://schemas.microsoft.com/office/drawing/2014/main" id="{52680952-C316-4A60-BB0F-26E54BA9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1935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nt-3">
            <a:extLst xmlns:a="http://schemas.openxmlformats.org/drawingml/2006/main">
              <a:ext uri="{FF2B5EF4-FFF2-40B4-BE49-F238E27FC236}">
                <a16:creationId xmlns:a16="http://schemas.microsoft.com/office/drawing/2014/main" id="{318671C0-BB75-44D2-9C2E-C20935F5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95650"/>
            <a:ext cx="26289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E1"/>
            </a:solidFill>
            <a:prstDash val="solid"/>
          </a:ln>
        </p:spPr>
      </p:sp>
      <p:sp>
        <p:nvSpPr>
          <p:cNvPr id="24" name="agent-title-3">
            <a:extLst xmlns:a="http://schemas.openxmlformats.org/drawingml/2006/main">
              <a:ext uri="{FF2B5EF4-FFF2-40B4-BE49-F238E27FC236}">
                <a16:creationId xmlns:a16="http://schemas.microsoft.com/office/drawing/2014/main" id="{7F273CFC-F976-4158-8AE9-0DE5DE4E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Regression Verifier</a:t>
            </a:r>
          </a:p>
        </p:txBody>
      </p:sp>
      <p:sp>
        <p:nvSpPr>
          <p:cNvPr id="25" name="agent-skill-3">
            <a:extLst xmlns:a="http://schemas.openxmlformats.org/drawingml/2006/main">
              <a:ext uri="{FF2B5EF4-FFF2-40B4-BE49-F238E27FC236}">
                <a16:creationId xmlns:a16="http://schemas.microsoft.com/office/drawing/2014/main" id="{4654E0B4-E9B6-4430-939B-0E97762B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814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8A5A"/>
                </a:solidFill>
              </a:defRPr>
            </a:pPr>
            <a:r>
              <a:rPr sz="1125" b="1">
                <a:solidFill>
                  <a:srgbClr val="008A5A"/>
                </a:solidFill>
              </a:rPr>
              <a:t>regression-verify</a:t>
            </a:r>
          </a:p>
          <a:p xmlns:a="http://schemas.openxmlformats.org/drawingml/2006/main">
            <a:pPr algn="ctr">
              <a:defRPr sz="1125" b="1">
                <a:solidFill>
                  <a:srgbClr val="008A5A"/>
                </a:solidFill>
              </a:defRPr>
            </a:pPr>
            <a:r>
              <a:rPr sz="1125" b="1">
                <a:solidFill>
                  <a:srgbClr val="008A5A"/>
                </a:solidFill>
              </a:rPr>
              <a:t>独占发布权</a:t>
            </a:r>
          </a:p>
        </p:txBody>
      </p:sp>
      <p:sp>
        <p:nvSpPr>
          <p:cNvPr id="26" name="arch-footnote">
            <a:extLst xmlns:a="http://schemas.openxmlformats.org/drawingml/2006/main">
              <a:ext uri="{FF2B5EF4-FFF2-40B4-BE49-F238E27FC236}">
                <a16:creationId xmlns:a16="http://schemas.microsoft.com/office/drawing/2014/main" id="{7C438CFC-24E1-4FAF-880D-CA34B055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474"/>
                </a:solidFill>
              </a:defRPr>
            </a:pPr>
            <a:r>
              <a:rPr sz="1050" b="1">
                <a:solidFill>
                  <a:srgbClr val="5B6474"/>
                </a:solidFill>
              </a:rPr>
              <a:t>* L2 场景才调用纹理缩放；L1 主链不为凑数量调用无关 Skill。</a:t>
            </a:r>
          </a:p>
        </p:txBody>
      </p:sp>
      <p:sp>
        <p:nvSpPr>
          <p:cNvPr id="27" name="arch-proof">
            <a:extLst xmlns:a="http://schemas.openxmlformats.org/drawingml/2006/main">
              <a:ext uri="{FF2B5EF4-FFF2-40B4-BE49-F238E27FC236}">
                <a16:creationId xmlns:a16="http://schemas.microsoft.com/office/drawing/2014/main" id="{7D45F1BC-8BF0-42C6-95BA-F9AD0DDE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72050"/>
            <a:ext cx="28003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rch-proof-text">
            <a:extLst xmlns:a="http://schemas.openxmlformats.org/drawingml/2006/main">
              <a:ext uri="{FF2B5EF4-FFF2-40B4-BE49-F238E27FC236}">
                <a16:creationId xmlns:a16="http://schemas.microsoft.com/office/drawing/2014/main" id="{07A26EEA-0C5D-4298-B8DA-A3725DD0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3397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</a:defRPr>
            </a:pPr>
            <a:r>
              <a:rPr sz="975" b="1">
                <a:solidFill>
                  <a:srgbClr val="111827"/>
                </a:solidFill>
              </a:rPr>
              <a:t>五个模型决策均在各自容器内产生</a:t>
            </a:r>
          </a:p>
        </p:txBody>
      </p:sp>
      <p:sp>
        <p:nvSpPr>
          <p:cNvPr id="29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F7A4133D-83C0-4672-BE86-2B2F4DF5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-stage-4">
            <a:extLst xmlns:a="http://schemas.openxmlformats.org/drawingml/2006/main">
              <a:ext uri="{FF2B5EF4-FFF2-40B4-BE49-F238E27FC236}">
                <a16:creationId xmlns:a16="http://schemas.microsoft.com/office/drawing/2014/main" id="{4F0A01DC-F9CE-4ED6-9863-3F29C7AD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AGENT IDENTITY + SKILL CONTRACT + MINIMUM PRIVILEGE</a:t>
            </a:r>
          </a:p>
        </p:txBody>
      </p:sp>
      <p:sp>
        <p:nvSpPr>
          <p:cNvPr id="3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CDFBA37B-8A52-4A7B-9C00-B786E663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2F73"/>
                </a:solidFill>
              </a:defRPr>
            </a:pPr>
            <a:r>
              <a:rPr sz="900" b="1">
                <a:solidFill>
                  <a:srgbClr val="0A2F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7231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kicker-5">
            <a:extLst xmlns:a="http://schemas.openxmlformats.org/drawingml/2006/main">
              <a:ext uri="{FF2B5EF4-FFF2-40B4-BE49-F238E27FC236}">
                <a16:creationId xmlns:a16="http://schemas.microsoft.com/office/drawing/2014/main" id="{3A3708E5-C244-4BFA-A157-49DA4486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5D9"/>
                </a:solidFill>
              </a:defRPr>
            </a:pPr>
            <a:r>
              <a:rPr sz="1050" b="1">
                <a:solidFill>
                  <a:srgbClr val="1455D9"/>
                </a:solidFill>
              </a:rPr>
              <a:t>04 · 可验证价值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AA69B02-C7B3-48C6-9040-DCB3004F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每次运行既产出业务结果，也产出能反查的证据链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E1B8A6BB-C346-4733-9B05-5CF0CFD5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eedback-5">
            <a:extLst xmlns:a="http://schemas.openxmlformats.org/drawingml/2006/main">
              <a:ext uri="{FF2B5EF4-FFF2-40B4-BE49-F238E27FC236}">
                <a16:creationId xmlns:a16="http://schemas.microsoft.com/office/drawing/2014/main" id="{E7B6DA29-D9CA-443E-9576-0B7ECFFC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2038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edback-label-5">
            <a:extLst xmlns:a="http://schemas.openxmlformats.org/drawingml/2006/main">
              <a:ext uri="{FF2B5EF4-FFF2-40B4-BE49-F238E27FC236}">
                <a16:creationId xmlns:a16="http://schemas.microsoft.com/office/drawing/2014/main" id="{99D439E8-2749-45E2-83D6-31EC6820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复赛新增：逐次证据</a:t>
            </a:r>
          </a:p>
        </p:txBody>
      </p:sp>
      <p:sp>
        <p:nvSpPr>
          <p:cNvPr id="6" name="e-pass-value">
            <a:extLst xmlns:a="http://schemas.openxmlformats.org/drawingml/2006/main">
              <a:ext uri="{FF2B5EF4-FFF2-40B4-BE49-F238E27FC236}">
                <a16:creationId xmlns:a16="http://schemas.microsoft.com/office/drawing/2014/main" id="{29DB4352-8D84-4A26-ABA7-FFD8AB88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A5A"/>
                </a:solidFill>
              </a:defRPr>
            </a:pPr>
            <a:r>
              <a:rPr sz="2850" b="1">
                <a:solidFill>
                  <a:srgbClr val="008A5A"/>
                </a:solidFill>
              </a:rPr>
              <a:t>5 / 5</a:t>
            </a:r>
          </a:p>
        </p:txBody>
      </p:sp>
      <p:sp>
        <p:nvSpPr>
          <p:cNvPr id="7" name="e-pass-label">
            <a:extLst xmlns:a="http://schemas.openxmlformats.org/drawingml/2006/main">
              <a:ext uri="{FF2B5EF4-FFF2-40B4-BE49-F238E27FC236}">
                <a16:creationId xmlns:a16="http://schemas.microsoft.com/office/drawing/2014/main" id="{0FC37641-72FB-47B5-8878-ED2B0A43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连续主链通过</a:t>
            </a:r>
          </a:p>
        </p:txBody>
      </p:sp>
      <p:sp>
        <p:nvSpPr>
          <p:cNvPr id="8" name="e-p50-value">
            <a:extLst xmlns:a="http://schemas.openxmlformats.org/drawingml/2006/main">
              <a:ext uri="{FF2B5EF4-FFF2-40B4-BE49-F238E27FC236}">
                <a16:creationId xmlns:a16="http://schemas.microsoft.com/office/drawing/2014/main" id="{58A101D8-5A7D-4B8D-8B54-0814F28E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52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55D9"/>
                </a:solidFill>
              </a:defRPr>
            </a:pPr>
            <a:r>
              <a:rPr sz="2850" b="1">
                <a:solidFill>
                  <a:srgbClr val="1455D9"/>
                </a:solidFill>
              </a:rPr>
              <a:t>83.344s</a:t>
            </a:r>
          </a:p>
        </p:txBody>
      </p:sp>
      <p:sp>
        <p:nvSpPr>
          <p:cNvPr id="9" name="e-p50-label">
            <a:extLst xmlns:a="http://schemas.openxmlformats.org/drawingml/2006/main">
              <a:ext uri="{FF2B5EF4-FFF2-40B4-BE49-F238E27FC236}">
                <a16:creationId xmlns:a16="http://schemas.microsoft.com/office/drawing/2014/main" id="{225AD510-1DA4-4B20-ACFA-5A34AF9A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端到端 P50</a:t>
            </a:r>
          </a:p>
        </p:txBody>
      </p:sp>
      <p:sp>
        <p:nvSpPr>
          <p:cNvPr id="10" name="e-p90-value">
            <a:extLst xmlns:a="http://schemas.openxmlformats.org/drawingml/2006/main">
              <a:ext uri="{FF2B5EF4-FFF2-40B4-BE49-F238E27FC236}">
                <a16:creationId xmlns:a16="http://schemas.microsoft.com/office/drawing/2014/main" id="{3D01B5C7-217F-4834-A00A-4994CC1F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52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55D9"/>
                </a:solidFill>
              </a:defRPr>
            </a:pPr>
            <a:r>
              <a:rPr sz="2850" b="1">
                <a:solidFill>
                  <a:srgbClr val="1455D9"/>
                </a:solidFill>
              </a:rPr>
              <a:t>90.250s</a:t>
            </a:r>
          </a:p>
        </p:txBody>
      </p:sp>
      <p:sp>
        <p:nvSpPr>
          <p:cNvPr id="11" name="e-p90-label">
            <a:extLst xmlns:a="http://schemas.openxmlformats.org/drawingml/2006/main">
              <a:ext uri="{FF2B5EF4-FFF2-40B4-BE49-F238E27FC236}">
                <a16:creationId xmlns:a16="http://schemas.microsoft.com/office/drawing/2014/main" id="{A73FFF4B-6D62-464B-BAAE-2E8AAAF0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端到端 P90</a:t>
            </a:r>
          </a:p>
        </p:txBody>
      </p:sp>
      <p:sp>
        <p:nvSpPr>
          <p:cNvPr id="12" name="e-human-value">
            <a:extLst xmlns:a="http://schemas.openxmlformats.org/drawingml/2006/main">
              <a:ext uri="{FF2B5EF4-FFF2-40B4-BE49-F238E27FC236}">
                <a16:creationId xmlns:a16="http://schemas.microsoft.com/office/drawing/2014/main" id="{E99F41E0-1DAC-45C0-8C89-0D336D5F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52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A5A"/>
                </a:solidFill>
              </a:defRPr>
            </a:pPr>
            <a:r>
              <a:rPr sz="2850" b="1">
                <a:solidFill>
                  <a:srgbClr val="008A5A"/>
                </a:solidFill>
              </a:rPr>
              <a:t>0</a:t>
            </a:r>
          </a:p>
        </p:txBody>
      </p:sp>
      <p:sp>
        <p:nvSpPr>
          <p:cNvPr id="13" name="e-human-label">
            <a:extLst xmlns:a="http://schemas.openxmlformats.org/drawingml/2006/main">
              <a:ext uri="{FF2B5EF4-FFF2-40B4-BE49-F238E27FC236}">
                <a16:creationId xmlns:a16="http://schemas.microsoft.com/office/drawing/2014/main" id="{FD7070B6-D584-4061-AAA1-D75DCDAD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66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派发后人工救场</a:t>
            </a:r>
          </a:p>
        </p:txBody>
      </p:sp>
      <p:sp>
        <p:nvSpPr>
          <p:cNvPr id="14" name="e-evidence-value">
            <a:extLst xmlns:a="http://schemas.openxmlformats.org/drawingml/2006/main">
              <a:ext uri="{FF2B5EF4-FFF2-40B4-BE49-F238E27FC236}">
                <a16:creationId xmlns:a16="http://schemas.microsoft.com/office/drawing/2014/main" id="{17C17B6B-5709-43A0-8346-415BEDBD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526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A5A"/>
                </a:solidFill>
              </a:defRPr>
            </a:pPr>
            <a:r>
              <a:rPr sz="2850" b="1">
                <a:solidFill>
                  <a:srgbClr val="008A5A"/>
                </a:solidFill>
              </a:rPr>
              <a:t>100%</a:t>
            </a:r>
          </a:p>
        </p:txBody>
      </p:sp>
      <p:sp>
        <p:nvSpPr>
          <p:cNvPr id="15" name="e-evidence-label">
            <a:extLst xmlns:a="http://schemas.openxmlformats.org/drawingml/2006/main">
              <a:ext uri="{FF2B5EF4-FFF2-40B4-BE49-F238E27FC236}">
                <a16:creationId xmlns:a16="http://schemas.microsoft.com/office/drawing/2014/main" id="{E9FFC208-67C7-4727-B564-B508C845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66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证据字段完整率</a:t>
            </a:r>
          </a:p>
        </p:txBody>
      </p:sp>
      <p:sp>
        <p:nvSpPr>
          <p:cNvPr id="16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096D48AB-B073-4C79-B9B3-D9E63623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一次运行的证据轨</a:t>
            </a:r>
          </a:p>
        </p:txBody>
      </p:sp>
      <p:sp>
        <p:nvSpPr>
          <p:cNvPr id="17" name="evidence-rail">
            <a:extLst xmlns:a="http://schemas.openxmlformats.org/drawingml/2006/main">
              <a:ext uri="{FF2B5EF4-FFF2-40B4-BE49-F238E27FC236}">
                <a16:creationId xmlns:a16="http://schemas.microsoft.com/office/drawing/2014/main" id="{AA3BC37E-3166-43BE-8E22-C2AD8AB0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047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-dot-0">
            <a:extLst xmlns:a="http://schemas.openxmlformats.org/drawingml/2006/main">
              <a:ext uri="{FF2B5EF4-FFF2-40B4-BE49-F238E27FC236}">
                <a16:creationId xmlns:a16="http://schemas.microsoft.com/office/drawing/2014/main" id="{ABE93D97-F7C2-4FEA-B244-D890C599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v-label-0">
            <a:extLst xmlns:a="http://schemas.openxmlformats.org/drawingml/2006/main">
              <a:ext uri="{FF2B5EF4-FFF2-40B4-BE49-F238E27FC236}">
                <a16:creationId xmlns:a16="http://schemas.microsoft.com/office/drawing/2014/main" id="{8842783E-FE42-4319-A00C-5ACF7C69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run_id</a:t>
            </a:r>
          </a:p>
        </p:txBody>
      </p:sp>
      <p:sp>
        <p:nvSpPr>
          <p:cNvPr id="20" name="ev-dot-1">
            <a:extLst xmlns:a="http://schemas.openxmlformats.org/drawingml/2006/main">
              <a:ext uri="{FF2B5EF4-FFF2-40B4-BE49-F238E27FC236}">
                <a16:creationId xmlns:a16="http://schemas.microsoft.com/office/drawing/2014/main" id="{9485E185-0836-494C-85C7-3AA6A69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14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v-label-1">
            <a:extLst xmlns:a="http://schemas.openxmlformats.org/drawingml/2006/main">
              <a:ext uri="{FF2B5EF4-FFF2-40B4-BE49-F238E27FC236}">
                <a16:creationId xmlns:a16="http://schemas.microsoft.com/office/drawing/2014/main" id="{09F38EDD-A707-4ED0-AFB8-03F4C84D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project_id</a:t>
            </a:r>
          </a:p>
        </p:txBody>
      </p:sp>
      <p:sp>
        <p:nvSpPr>
          <p:cNvPr id="22" name="ev-dot-2">
            <a:extLst xmlns:a="http://schemas.openxmlformats.org/drawingml/2006/main">
              <a:ext uri="{FF2B5EF4-FFF2-40B4-BE49-F238E27FC236}">
                <a16:creationId xmlns:a16="http://schemas.microsoft.com/office/drawing/2014/main" id="{F645FDA9-31BE-47CE-9A93-C54740B2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14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ev-label-2">
            <a:extLst xmlns:a="http://schemas.openxmlformats.org/drawingml/2006/main">
              <a:ext uri="{FF2B5EF4-FFF2-40B4-BE49-F238E27FC236}">
                <a16:creationId xmlns:a16="http://schemas.microsoft.com/office/drawing/2014/main" id="{77A066F8-78A8-4CDF-976E-826B3F3E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4 task_id</a:t>
            </a:r>
          </a:p>
        </p:txBody>
      </p:sp>
      <p:sp>
        <p:nvSpPr>
          <p:cNvPr id="24" name="ev-dot-3">
            <a:extLst xmlns:a="http://schemas.openxmlformats.org/drawingml/2006/main">
              <a:ext uri="{FF2B5EF4-FFF2-40B4-BE49-F238E27FC236}">
                <a16:creationId xmlns:a16="http://schemas.microsoft.com/office/drawing/2014/main" id="{11F54112-53E8-469F-9444-F7AEBB5F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v-label-3">
            <a:extLst xmlns:a="http://schemas.openxmlformats.org/drawingml/2006/main">
              <a:ext uri="{FF2B5EF4-FFF2-40B4-BE49-F238E27FC236}">
                <a16:creationId xmlns:a16="http://schemas.microsoft.com/office/drawing/2014/main" id="{C05333A8-A29D-41B0-9BDB-29206650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910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5 decision hash</a:t>
            </a:r>
          </a:p>
        </p:txBody>
      </p:sp>
      <p:sp>
        <p:nvSpPr>
          <p:cNvPr id="26" name="ev-dot-4">
            <a:extLst xmlns:a="http://schemas.openxmlformats.org/drawingml/2006/main">
              <a:ext uri="{FF2B5EF4-FFF2-40B4-BE49-F238E27FC236}">
                <a16:creationId xmlns:a16="http://schemas.microsoft.com/office/drawing/2014/main" id="{A9BB85A9-0DCA-45BE-A727-D0DDC3E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14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v-label-4">
            <a:extLst xmlns:a="http://schemas.openxmlformats.org/drawingml/2006/main">
              <a:ext uri="{FF2B5EF4-FFF2-40B4-BE49-F238E27FC236}">
                <a16:creationId xmlns:a16="http://schemas.microsoft.com/office/drawing/2014/main" id="{B621F6A8-5F16-4D40-A575-F700A347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910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skill/version</a:t>
            </a:r>
          </a:p>
        </p:txBody>
      </p:sp>
      <p:sp>
        <p:nvSpPr>
          <p:cNvPr id="28" name="ev-dot-5">
            <a:extLst xmlns:a="http://schemas.openxmlformats.org/drawingml/2006/main">
              <a:ext uri="{FF2B5EF4-FFF2-40B4-BE49-F238E27FC236}">
                <a16:creationId xmlns:a16="http://schemas.microsoft.com/office/drawing/2014/main" id="{57D65ACD-EEC0-4FCA-9AB6-17847E87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v-label-5">
            <a:extLst xmlns:a="http://schemas.openxmlformats.org/drawingml/2006/main">
              <a:ext uri="{FF2B5EF4-FFF2-40B4-BE49-F238E27FC236}">
                <a16:creationId xmlns:a16="http://schemas.microsoft.com/office/drawing/2014/main" id="{1333E04A-1383-4423-BED9-F8A50E91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plan_id</a:t>
            </a:r>
          </a:p>
        </p:txBody>
      </p:sp>
      <p:sp>
        <p:nvSpPr>
          <p:cNvPr id="30" name="ev-dot-6">
            <a:extLst xmlns:a="http://schemas.openxmlformats.org/drawingml/2006/main">
              <a:ext uri="{FF2B5EF4-FFF2-40B4-BE49-F238E27FC236}">
                <a16:creationId xmlns:a16="http://schemas.microsoft.com/office/drawing/2014/main" id="{F2D8C76E-8966-4959-9886-B7CAEBDC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714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v-label-6">
            <a:extLst xmlns:a="http://schemas.openxmlformats.org/drawingml/2006/main">
              <a:ext uri="{FF2B5EF4-FFF2-40B4-BE49-F238E27FC236}">
                <a16:creationId xmlns:a16="http://schemas.microsoft.com/office/drawing/2014/main" id="{5C661905-D612-47DB-9D54-21F917D1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910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asset hash</a:t>
            </a:r>
          </a:p>
        </p:txBody>
      </p:sp>
      <p:sp>
        <p:nvSpPr>
          <p:cNvPr id="32" name="ev-dot-7">
            <a:extLst xmlns:a="http://schemas.openxmlformats.org/drawingml/2006/main">
              <a:ext uri="{FF2B5EF4-FFF2-40B4-BE49-F238E27FC236}">
                <a16:creationId xmlns:a16="http://schemas.microsoft.com/office/drawing/2014/main" id="{751CDA22-5CCC-47C1-B16D-AC0895DC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14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ev-label-7">
            <a:extLst xmlns:a="http://schemas.openxmlformats.org/drawingml/2006/main">
              <a:ext uri="{FF2B5EF4-FFF2-40B4-BE49-F238E27FC236}">
                <a16:creationId xmlns:a16="http://schemas.microsoft.com/office/drawing/2014/main" id="{96F1501C-8B39-4BB8-9F36-1989623D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trace/event</a:t>
            </a:r>
          </a:p>
        </p:txBody>
      </p:sp>
      <p:sp>
        <p:nvSpPr>
          <p:cNvPr id="34" name="ev-dot-8">
            <a:extLst xmlns:a="http://schemas.openxmlformats.org/drawingml/2006/main">
              <a:ext uri="{FF2B5EF4-FFF2-40B4-BE49-F238E27FC236}">
                <a16:creationId xmlns:a16="http://schemas.microsoft.com/office/drawing/2014/main" id="{CCF9C7A3-1353-4AAF-8D68-50A3147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14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ev-label-8">
            <a:extLst xmlns:a="http://schemas.openxmlformats.org/drawingml/2006/main">
              <a:ext uri="{FF2B5EF4-FFF2-40B4-BE49-F238E27FC236}">
                <a16:creationId xmlns:a16="http://schemas.microsoft.com/office/drawing/2014/main" id="{2E2D240E-81FF-4955-94B9-CAC1A099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910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gate</a:t>
            </a:r>
          </a:p>
        </p:txBody>
      </p:sp>
      <p:sp>
        <p:nvSpPr>
          <p:cNvPr id="36" name="ev-dot-9">
            <a:extLst xmlns:a="http://schemas.openxmlformats.org/drawingml/2006/main">
              <a:ext uri="{FF2B5EF4-FFF2-40B4-BE49-F238E27FC236}">
                <a16:creationId xmlns:a16="http://schemas.microsoft.com/office/drawing/2014/main" id="{066E0ED5-0E9E-4DE1-93D4-511E74A1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7147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8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v-label-9">
            <a:extLst xmlns:a="http://schemas.openxmlformats.org/drawingml/2006/main">
              <a:ext uri="{FF2B5EF4-FFF2-40B4-BE49-F238E27FC236}">
                <a16:creationId xmlns:a16="http://schemas.microsoft.com/office/drawing/2014/main" id="{B2F203BF-BD3D-41C5-8853-B34519C4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19100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release hash</a:t>
            </a:r>
          </a:p>
        </p:txBody>
      </p:sp>
      <p:sp>
        <p:nvSpPr>
          <p:cNvPr id="38" name="metric-boundary">
            <a:extLst xmlns:a="http://schemas.openxmlformats.org/drawingml/2006/main">
              <a:ext uri="{FF2B5EF4-FFF2-40B4-BE49-F238E27FC236}">
                <a16:creationId xmlns:a16="http://schemas.microsoft.com/office/drawing/2014/main" id="{A5B6CA21-A1BC-4C28-8847-88A50A89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5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E1"/>
            </a:solidFill>
            <a:prstDash val="solid"/>
          </a:ln>
        </p:spPr>
      </p:sp>
      <p:sp>
        <p:nvSpPr>
          <p:cNvPr id="39" name="metric-boundary-copy">
            <a:extLst xmlns:a="http://schemas.openxmlformats.org/drawingml/2006/main">
              <a:ext uri="{FF2B5EF4-FFF2-40B4-BE49-F238E27FC236}">
                <a16:creationId xmlns:a16="http://schemas.microsoft.com/office/drawing/2014/main" id="{36797A1B-09DD-466E-AF79-313C08E5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40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当前可证明自动周期、成功率和证据覆盖；人工节省比例与 ROI 等待盲标基线后再发布。</a:t>
            </a:r>
          </a:p>
        </p:txBody>
      </p:sp>
      <p:sp>
        <p:nvSpPr>
          <p:cNvPr id="40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C3409CD1-CEF3-4A1F-AB8D-3ED42C5C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-stage-5">
            <a:extLst xmlns:a="http://schemas.openxmlformats.org/drawingml/2006/main">
              <a:ext uri="{FF2B5EF4-FFF2-40B4-BE49-F238E27FC236}">
                <a16:creationId xmlns:a16="http://schemas.microsoft.com/office/drawing/2014/main" id="{098DFE75-AC55-4757-86B8-5714BA0F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METRIC QUANTIFIES VALUE · EVIDENCE PROVES HOW THE VALUE WAS PRODUCED</a:t>
            </a:r>
          </a:p>
        </p:txBody>
      </p:sp>
      <p:sp>
        <p:nvSpPr>
          <p:cNvPr id="42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3C564BB7-69F6-4E75-95CC-1357A98B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2F73"/>
                </a:solidFill>
              </a:defRPr>
            </a:pPr>
            <a:r>
              <a:rPr sz="900" b="1">
                <a:solidFill>
                  <a:srgbClr val="0A2F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2613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6">
            <a:extLst xmlns:a="http://schemas.openxmlformats.org/drawingml/2006/main">
              <a:ext uri="{FF2B5EF4-FFF2-40B4-BE49-F238E27FC236}">
                <a16:creationId xmlns:a16="http://schemas.microsoft.com/office/drawing/2014/main" id="{8F4AF277-BD92-4621-BA41-7764D28B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5D9"/>
                </a:solidFill>
              </a:defRPr>
            </a:pPr>
            <a:r>
              <a:rPr sz="1050" b="1">
                <a:solidFill>
                  <a:srgbClr val="1455D9"/>
                </a:solidFill>
              </a:rPr>
              <a:t>05 · 风险边界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0F5080C-5526-469E-8A5A-031A31B1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高风险操作先停、批准后续跑；验证失败必回滚且零发布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5F1C6380-A82F-47F9-A214-A193CFA8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eedback-6">
            <a:extLst xmlns:a="http://schemas.openxmlformats.org/drawingml/2006/main">
              <a:ext uri="{FF2B5EF4-FFF2-40B4-BE49-F238E27FC236}">
                <a16:creationId xmlns:a16="http://schemas.microsoft.com/office/drawing/2014/main" id="{E5512F54-7EEB-44A7-BCA4-EF212CCE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2038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edback-label-6">
            <a:extLst xmlns:a="http://schemas.openxmlformats.org/drawingml/2006/main">
              <a:ext uri="{FF2B5EF4-FFF2-40B4-BE49-F238E27FC236}">
                <a16:creationId xmlns:a16="http://schemas.microsoft.com/office/drawing/2014/main" id="{F27464FF-5265-434E-8E1A-71255D18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复赛新增：审批与回滚</a:t>
            </a:r>
          </a:p>
        </p:txBody>
      </p:sp>
      <p:sp>
        <p:nvSpPr>
          <p:cNvPr id="6" name="safe-accent-0">
            <a:extLst xmlns:a="http://schemas.openxmlformats.org/drawingml/2006/main">
              <a:ext uri="{FF2B5EF4-FFF2-40B4-BE49-F238E27FC236}">
                <a16:creationId xmlns:a16="http://schemas.microsoft.com/office/drawing/2014/main" id="{B38BF949-B3AA-43E0-92D0-C8C9F4EA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fe-title-0">
            <a:extLst xmlns:a="http://schemas.openxmlformats.org/drawingml/2006/main">
              <a:ext uri="{FF2B5EF4-FFF2-40B4-BE49-F238E27FC236}">
                <a16:creationId xmlns:a16="http://schemas.microsoft.com/office/drawing/2014/main" id="{B9AF5B4D-0755-413E-A51D-A03F41C7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L1 自动修复</a:t>
            </a:r>
          </a:p>
        </p:txBody>
      </p:sp>
      <p:sp>
        <p:nvSpPr>
          <p:cNvPr id="8" name="safe-copy-0">
            <a:extLst xmlns:a="http://schemas.openxmlformats.org/drawingml/2006/main">
              <a:ext uri="{FF2B5EF4-FFF2-40B4-BE49-F238E27FC236}">
                <a16:creationId xmlns:a16="http://schemas.microsoft.com/office/drawing/2014/main" id="{8C8739EC-AB6B-46AE-802D-90A1D848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33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退化三角形</a:t>
            </a:r>
          </a:p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白名单修复</a:t>
            </a:r>
          </a:p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无需业务审批</a:t>
            </a:r>
          </a:p>
        </p:txBody>
      </p:sp>
      <p:sp>
        <p:nvSpPr>
          <p:cNvPr id="9" name="safe-gate-0">
            <a:extLst xmlns:a="http://schemas.openxmlformats.org/drawingml/2006/main">
              <a:ext uri="{FF2B5EF4-FFF2-40B4-BE49-F238E27FC236}">
                <a16:creationId xmlns:a16="http://schemas.microsoft.com/office/drawing/2014/main" id="{A5CFB530-6E01-4EFA-9E83-585AB5DE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33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55D9"/>
            </a:solidFill>
            <a:prstDash val="solid"/>
          </a:ln>
        </p:spPr>
      </p:sp>
      <p:sp>
        <p:nvSpPr>
          <p:cNvPr id="10" name="safe-gate-text-0">
            <a:extLst xmlns:a="http://schemas.openxmlformats.org/drawingml/2006/main">
              <a:ext uri="{FF2B5EF4-FFF2-40B4-BE49-F238E27FC236}">
                <a16:creationId xmlns:a16="http://schemas.microsoft.com/office/drawing/2014/main" id="{589F8BEF-EAD2-4223-BDBB-BCD779E1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455D9"/>
                </a:solidFill>
              </a:defRPr>
            </a:pPr>
            <a:r>
              <a:rPr sz="1125" b="1">
                <a:solidFill>
                  <a:srgbClr val="1455D9"/>
                </a:solidFill>
              </a:rPr>
              <a:t>REPAIRED_PASS</a:t>
            </a:r>
          </a:p>
        </p:txBody>
      </p:sp>
      <p:sp>
        <p:nvSpPr>
          <p:cNvPr id="11" name="safe-accent-1">
            <a:extLst xmlns:a="http://schemas.openxmlformats.org/drawingml/2006/main">
              <a:ext uri="{FF2B5EF4-FFF2-40B4-BE49-F238E27FC236}">
                <a16:creationId xmlns:a16="http://schemas.microsoft.com/office/drawing/2014/main" id="{3BDBF174-C808-493D-82C9-84FBBEE2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afe-title-1">
            <a:extLst xmlns:a="http://schemas.openxmlformats.org/drawingml/2006/main">
              <a:ext uri="{FF2B5EF4-FFF2-40B4-BE49-F238E27FC236}">
                <a16:creationId xmlns:a16="http://schemas.microsoft.com/office/drawing/2014/main" id="{179C8027-7371-4E33-8C85-7D9301D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L2 绑定审批</a:t>
            </a:r>
          </a:p>
        </p:txBody>
      </p:sp>
      <p:sp>
        <p:nvSpPr>
          <p:cNvPr id="13" name="safe-copy-1">
            <a:extLst xmlns:a="http://schemas.openxmlformats.org/drawingml/2006/main">
              <a:ext uri="{FF2B5EF4-FFF2-40B4-BE49-F238E27FC236}">
                <a16:creationId xmlns:a16="http://schemas.microsoft.com/office/drawing/2014/main" id="{4F3BAB1E-DA10-4EA5-868C-10AC6899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333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Plan + 资产哈希</a:t>
            </a:r>
          </a:p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审批角色 + 期限</a:t>
            </a:r>
          </a:p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批准/拒绝均留痕</a:t>
            </a:r>
          </a:p>
        </p:txBody>
      </p:sp>
      <p:sp>
        <p:nvSpPr>
          <p:cNvPr id="14" name="safe-gate-1">
            <a:extLst xmlns:a="http://schemas.openxmlformats.org/drawingml/2006/main">
              <a:ext uri="{FF2B5EF4-FFF2-40B4-BE49-F238E27FC236}">
                <a16:creationId xmlns:a16="http://schemas.microsoft.com/office/drawing/2014/main" id="{404CC936-6C06-4098-BE95-C11CDC73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38600"/>
            <a:ext cx="333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7913"/>
            </a:solidFill>
            <a:prstDash val="solid"/>
          </a:ln>
        </p:spPr>
      </p:sp>
      <p:sp>
        <p:nvSpPr>
          <p:cNvPr id="15" name="safe-gate-text-1">
            <a:extLst xmlns:a="http://schemas.openxmlformats.org/drawingml/2006/main">
              <a:ext uri="{FF2B5EF4-FFF2-40B4-BE49-F238E27FC236}">
                <a16:creationId xmlns:a16="http://schemas.microsoft.com/office/drawing/2014/main" id="{15D19709-DDA3-43AD-81EF-C823D4FA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910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7913"/>
                </a:solidFill>
              </a:defRPr>
            </a:pPr>
            <a:r>
              <a:rPr sz="1125" b="1">
                <a:solidFill>
                  <a:srgbClr val="C97913"/>
                </a:solidFill>
              </a:rPr>
              <a:t>NEED_APPROVAL</a:t>
            </a:r>
          </a:p>
        </p:txBody>
      </p:sp>
      <p:sp>
        <p:nvSpPr>
          <p:cNvPr id="16" name="safe-accent-2">
            <a:extLst xmlns:a="http://schemas.openxmlformats.org/drawingml/2006/main">
              <a:ext uri="{FF2B5EF4-FFF2-40B4-BE49-F238E27FC236}">
                <a16:creationId xmlns:a16="http://schemas.microsoft.com/office/drawing/2014/main" id="{A4A8E3B2-54F9-450C-AB37-30D09DBB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afe-title-2">
            <a:extLst xmlns:a="http://schemas.openxmlformats.org/drawingml/2006/main">
              <a:ext uri="{FF2B5EF4-FFF2-40B4-BE49-F238E27FC236}">
                <a16:creationId xmlns:a16="http://schemas.microsoft.com/office/drawing/2014/main" id="{41679E44-B53F-43C8-856B-71846CD2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故障回滚</a:t>
            </a:r>
          </a:p>
        </p:txBody>
      </p:sp>
      <p:sp>
        <p:nvSpPr>
          <p:cNvPr id="18" name="safe-copy-2">
            <a:extLst xmlns:a="http://schemas.openxmlformats.org/drawingml/2006/main">
              <a:ext uri="{FF2B5EF4-FFF2-40B4-BE49-F238E27FC236}">
                <a16:creationId xmlns:a16="http://schemas.microsoft.com/office/drawing/2014/main" id="{80619829-0971-40C8-85E8-D0003E9A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3333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执行前篡改</a:t>
            </a:r>
          </a:p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工具失败</a:t>
            </a:r>
          </a:p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候选损坏</a:t>
            </a:r>
          </a:p>
        </p:txBody>
      </p:sp>
      <p:sp>
        <p:nvSpPr>
          <p:cNvPr id="19" name="safe-gate-2">
            <a:extLst xmlns:a="http://schemas.openxmlformats.org/drawingml/2006/main">
              <a:ext uri="{FF2B5EF4-FFF2-40B4-BE49-F238E27FC236}">
                <a16:creationId xmlns:a16="http://schemas.microsoft.com/office/drawing/2014/main" id="{0A565C3A-DE32-4E95-820B-D3B572C5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333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3645"/>
            </a:solidFill>
            <a:prstDash val="solid"/>
          </a:ln>
        </p:spPr>
      </p:sp>
      <p:sp>
        <p:nvSpPr>
          <p:cNvPr id="20" name="safe-gate-text-2">
            <a:extLst xmlns:a="http://schemas.openxmlformats.org/drawingml/2006/main">
              <a:ext uri="{FF2B5EF4-FFF2-40B4-BE49-F238E27FC236}">
                <a16:creationId xmlns:a16="http://schemas.microsoft.com/office/drawing/2014/main" id="{B4AF2A88-72DE-4312-BC38-F998ED7D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910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33645"/>
                </a:solidFill>
              </a:defRPr>
            </a:pPr>
            <a:r>
              <a:rPr sz="1125" b="1">
                <a:solidFill>
                  <a:srgbClr val="E33645"/>
                </a:solidFill>
              </a:rPr>
              <a:t>FAILED_ROLLBACK</a:t>
            </a:r>
          </a:p>
        </p:txBody>
      </p:sp>
      <p:sp>
        <p:nvSpPr>
          <p:cNvPr id="21" name="safe-divider">
            <a:extLst xmlns:a="http://schemas.openxmlformats.org/drawingml/2006/main">
              <a:ext uri="{FF2B5EF4-FFF2-40B4-BE49-F238E27FC236}">
                <a16:creationId xmlns:a16="http://schemas.microsoft.com/office/drawing/2014/main" id="{328FD8CF-5242-4052-817E-1CD1558E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687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afe-operator">
            <a:extLst xmlns:a="http://schemas.openxmlformats.org/drawingml/2006/main">
              <a:ext uri="{FF2B5EF4-FFF2-40B4-BE49-F238E27FC236}">
                <a16:creationId xmlns:a16="http://schemas.microsoft.com/office/drawing/2014/main" id="{F55F255B-8324-4FF6-A185-FC87F4AE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A5A"/>
                </a:solidFill>
              </a:defRPr>
            </a:pPr>
            <a:r>
              <a:rPr sz="1350" b="1">
                <a:solidFill>
                  <a:srgbClr val="008A5A"/>
                </a:solidFill>
              </a:rPr>
              <a:t>operator_recovery_actions = 0</a:t>
            </a:r>
          </a:p>
        </p:txBody>
      </p:sp>
      <p:sp>
        <p:nvSpPr>
          <p:cNvPr id="23" name="safe-approval">
            <a:extLst xmlns:a="http://schemas.openxmlformats.org/drawingml/2006/main">
              <a:ext uri="{FF2B5EF4-FFF2-40B4-BE49-F238E27FC236}">
                <a16:creationId xmlns:a16="http://schemas.microsoft.com/office/drawing/2014/main" id="{B053CE95-C7E1-457A-A684-7FDFC21B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43500"/>
            <a:ext cx="542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7913"/>
                </a:solidFill>
              </a:defRPr>
            </a:pPr>
            <a:r>
              <a:rPr sz="1350" b="1">
                <a:solidFill>
                  <a:srgbClr val="C97913"/>
                </a:solidFill>
              </a:rPr>
              <a:t>authorized_business_approvals = 1（L2）</a:t>
            </a:r>
          </a:p>
        </p:txBody>
      </p:sp>
      <p:sp>
        <p:nvSpPr>
          <p:cNvPr id="24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2E117673-B9CE-459B-BAD9-487698A3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stage-6">
            <a:extLst xmlns:a="http://schemas.openxmlformats.org/drawingml/2006/main">
              <a:ext uri="{FF2B5EF4-FFF2-40B4-BE49-F238E27FC236}">
                <a16:creationId xmlns:a16="http://schemas.microsoft.com/office/drawing/2014/main" id="{85377E33-C14F-4F65-8BC9-0C61B025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FAIL CLOSED · CHECKPOINT · INDEPENDENT VERIFIER · ZERO FAILED RELEASE</a:t>
            </a:r>
          </a:p>
        </p:txBody>
      </p:sp>
      <p:sp>
        <p:nvSpPr>
          <p:cNvPr id="2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F62A512E-9886-4D45-9D5B-A10C8ECB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2F73"/>
                </a:solidFill>
              </a:defRPr>
            </a:pPr>
            <a:r>
              <a:rPr sz="900" b="1">
                <a:solidFill>
                  <a:srgbClr val="0A2F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8135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-7">
            <a:extLst xmlns:a="http://schemas.openxmlformats.org/drawingml/2006/main">
              <a:ext uri="{FF2B5EF4-FFF2-40B4-BE49-F238E27FC236}">
                <a16:creationId xmlns:a16="http://schemas.microsoft.com/office/drawing/2014/main" id="{5C02DDBD-C6CA-4BAC-8CF0-C13382EC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5D9"/>
                </a:solidFill>
              </a:defRPr>
            </a:pPr>
            <a:r>
              <a:rPr sz="1050" b="1">
                <a:solidFill>
                  <a:srgbClr val="1455D9"/>
                </a:solidFill>
              </a:rPr>
              <a:t>06 · 真实资产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6D450D5-2C84-40FE-95CD-11AB3A0C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开源资产平台接入可复验，同时明确不冒充企业客户集成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C04A37E9-366A-46FF-8671-893EC690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eedback-7">
            <a:extLst xmlns:a="http://schemas.openxmlformats.org/drawingml/2006/main">
              <a:ext uri="{FF2B5EF4-FFF2-40B4-BE49-F238E27FC236}">
                <a16:creationId xmlns:a16="http://schemas.microsoft.com/office/drawing/2014/main" id="{D9404A27-4233-4123-91A1-C3BE51E2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2038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edback-label-7">
            <a:extLst xmlns:a="http://schemas.openxmlformats.org/drawingml/2006/main">
              <a:ext uri="{FF2B5EF4-FFF2-40B4-BE49-F238E27FC236}">
                <a16:creationId xmlns:a16="http://schemas.microsoft.com/office/drawing/2014/main" id="{008BCFA6-202A-424E-B749-D8512178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复赛新增：真实来源</a:t>
            </a:r>
          </a:p>
        </p:txBody>
      </p:sp>
      <p:sp>
        <p:nvSpPr>
          <p:cNvPr id="6" name="platform-label">
            <a:extLst xmlns:a="http://schemas.openxmlformats.org/drawingml/2006/main">
              <a:ext uri="{FF2B5EF4-FFF2-40B4-BE49-F238E27FC236}">
                <a16:creationId xmlns:a16="http://schemas.microsoft.com/office/drawing/2014/main" id="{E36C1009-E5F4-4BD1-97EC-1D7BE852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A5A"/>
                </a:solidFill>
              </a:defRPr>
            </a:pPr>
            <a:r>
              <a:rPr sz="1200" b="1">
                <a:solidFill>
                  <a:srgbClr val="008A5A"/>
                </a:solidFill>
              </a:rPr>
              <a:t>当前已验证</a:t>
            </a:r>
          </a:p>
        </p:txBody>
      </p:sp>
      <p:sp>
        <p:nvSpPr>
          <p:cNvPr id="7" name="platform-title">
            <a:extLst xmlns:a="http://schemas.openxmlformats.org/drawingml/2006/main">
              <a:ext uri="{FF2B5EF4-FFF2-40B4-BE49-F238E27FC236}">
                <a16:creationId xmlns:a16="http://schemas.microsoft.com/office/drawing/2014/main" id="{7E5026FC-AB82-401C-AD13-73F575E3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81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KhronosGroup / glTF-Sample-Assets</a:t>
            </a:r>
          </a:p>
        </p:txBody>
      </p:sp>
      <p:sp>
        <p:nvSpPr>
          <p:cNvPr id="8" name="platform-copy">
            <a:extLst xmlns:a="http://schemas.openxmlformats.org/drawingml/2006/main">
              <a:ext uri="{FF2B5EF4-FFF2-40B4-BE49-F238E27FC236}">
                <a16:creationId xmlns:a16="http://schemas.microsoft.com/office/drawing/2014/main" id="{B8E0978D-B893-4BF3-BFE5-DF858C5D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600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BoxVertexColors · Avocado · BoomBox</a:t>
            </a:r>
          </a:p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固定上游 commit、原作者、CC0-1.0、字节数与 SHA-256</a:t>
            </a:r>
          </a:p>
          <a:p xmlns:a="http://schemas.openxmlformats.org/drawingml/2006/main">
            <a:pPr algn="l">
              <a:defRPr sz="1350" b="1">
                <a:solidFill>
                  <a:srgbClr val="5B6474"/>
                </a:solidFill>
              </a:defRPr>
            </a:pPr>
            <a:r>
              <a:rPr sz="1350" b="1">
                <a:solidFill>
                  <a:srgbClr val="5B6474"/>
                </a:solidFill>
              </a:rPr>
              <a:t>离线同步验证 3 / 3 通过</a:t>
            </a:r>
          </a:p>
        </p:txBody>
      </p:sp>
      <p:sp>
        <p:nvSpPr>
          <p:cNvPr id="9" name="platform-proof">
            <a:extLst xmlns:a="http://schemas.openxmlformats.org/drawingml/2006/main">
              <a:ext uri="{FF2B5EF4-FFF2-40B4-BE49-F238E27FC236}">
                <a16:creationId xmlns:a16="http://schemas.microsoft.com/office/drawing/2014/main" id="{20814DCE-AEBD-40F9-8D0C-7A3522DE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5810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A2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latform-proof-text">
            <a:extLst xmlns:a="http://schemas.openxmlformats.org/drawingml/2006/main">
              <a:ext uri="{FF2B5EF4-FFF2-40B4-BE49-F238E27FC236}">
                <a16:creationId xmlns:a16="http://schemas.microsoft.com/office/drawing/2014/main" id="{821B30FF-E18D-4BA2-9F32-4BA66E9F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86275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原始资产不变 · 每个来源记录可独立复现</a:t>
            </a:r>
          </a:p>
        </p:txBody>
      </p:sp>
      <p:sp>
        <p:nvSpPr>
          <p:cNvPr id="11" name="platform-divider">
            <a:extLst xmlns:a="http://schemas.openxmlformats.org/drawingml/2006/main">
              <a:ext uri="{FF2B5EF4-FFF2-40B4-BE49-F238E27FC236}">
                <a16:creationId xmlns:a16="http://schemas.microsoft.com/office/drawing/2014/main" id="{7A67D3D6-7C82-4F43-AD3C-2820A47E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52600"/>
            <a:ext cx="190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igration-label">
            <a:extLst xmlns:a="http://schemas.openxmlformats.org/drawingml/2006/main">
              <a:ext uri="{FF2B5EF4-FFF2-40B4-BE49-F238E27FC236}">
                <a16:creationId xmlns:a16="http://schemas.microsoft.com/office/drawing/2014/main" id="{66C6AEA4-BE1F-4F5B-B899-3F55F86A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71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5D9"/>
                </a:solidFill>
              </a:defRPr>
            </a:pPr>
            <a:r>
              <a:rPr sz="1200" b="1">
                <a:solidFill>
                  <a:srgbClr val="1455D9"/>
                </a:solidFill>
              </a:rPr>
              <a:t>可迁移路径</a:t>
            </a:r>
          </a:p>
        </p:txBody>
      </p:sp>
      <p:sp>
        <p:nvSpPr>
          <p:cNvPr id="13" name="migration-title-0">
            <a:extLst xmlns:a="http://schemas.openxmlformats.org/drawingml/2006/main">
              <a:ext uri="{FF2B5EF4-FFF2-40B4-BE49-F238E27FC236}">
                <a16:creationId xmlns:a16="http://schemas.microsoft.com/office/drawing/2014/main" id="{A52FC84C-C645-411D-BC48-B9362520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9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游戏 / XR</a:t>
            </a:r>
          </a:p>
        </p:txBody>
      </p:sp>
      <p:sp>
        <p:nvSpPr>
          <p:cNvPr id="14" name="migration-copy-0">
            <a:extLst xmlns:a="http://schemas.openxmlformats.org/drawingml/2006/main">
              <a:ext uri="{FF2B5EF4-FFF2-40B4-BE49-F238E27FC236}">
                <a16:creationId xmlns:a16="http://schemas.microsoft.com/office/drawing/2014/main" id="{E396C1FF-FBDF-4982-8D08-4206A1CF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实时预算 Profile</a:t>
            </a:r>
          </a:p>
        </p:txBody>
      </p:sp>
      <p:sp>
        <p:nvSpPr>
          <p:cNvPr id="15" name="migration-rule-0">
            <a:extLst xmlns:a="http://schemas.openxmlformats.org/drawingml/2006/main">
              <a:ext uri="{FF2B5EF4-FFF2-40B4-BE49-F238E27FC236}">
                <a16:creationId xmlns:a16="http://schemas.microsoft.com/office/drawing/2014/main" id="{891B4661-3D29-4715-8FC2-0766BA3B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67000"/>
            <a:ext cx="396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igration-title-1">
            <a:extLst xmlns:a="http://schemas.openxmlformats.org/drawingml/2006/main">
              <a:ext uri="{FF2B5EF4-FFF2-40B4-BE49-F238E27FC236}">
                <a16:creationId xmlns:a16="http://schemas.microsoft.com/office/drawing/2014/main" id="{954E724F-A838-4BE1-99D8-ACA3FA05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三维电商</a:t>
            </a:r>
          </a:p>
        </p:txBody>
      </p:sp>
      <p:sp>
        <p:nvSpPr>
          <p:cNvPr id="17" name="migration-copy-1">
            <a:extLst xmlns:a="http://schemas.openxmlformats.org/drawingml/2006/main">
              <a:ext uri="{FF2B5EF4-FFF2-40B4-BE49-F238E27FC236}">
                <a16:creationId xmlns:a16="http://schemas.microsoft.com/office/drawing/2014/main" id="{C22979CA-16DB-402C-8B5C-986598AC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纹理与包体 Profile</a:t>
            </a:r>
          </a:p>
        </p:txBody>
      </p:sp>
      <p:sp>
        <p:nvSpPr>
          <p:cNvPr id="18" name="migration-rule-1">
            <a:extLst xmlns:a="http://schemas.openxmlformats.org/drawingml/2006/main">
              <a:ext uri="{FF2B5EF4-FFF2-40B4-BE49-F238E27FC236}">
                <a16:creationId xmlns:a16="http://schemas.microsoft.com/office/drawing/2014/main" id="{0718D492-DD71-4716-8D8E-32403C37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09950"/>
            <a:ext cx="396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igration-title-2">
            <a:extLst xmlns:a="http://schemas.openxmlformats.org/drawingml/2006/main">
              <a:ext uri="{FF2B5EF4-FFF2-40B4-BE49-F238E27FC236}">
                <a16:creationId xmlns:a16="http://schemas.microsoft.com/office/drawing/2014/main" id="{F5FCE27C-004C-47EE-B275-D041D090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95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数字孪生</a:t>
            </a:r>
          </a:p>
        </p:txBody>
      </p:sp>
      <p:sp>
        <p:nvSpPr>
          <p:cNvPr id="20" name="migration-copy-2">
            <a:extLst xmlns:a="http://schemas.openxmlformats.org/drawingml/2006/main">
              <a:ext uri="{FF2B5EF4-FFF2-40B4-BE49-F238E27FC236}">
                <a16:creationId xmlns:a16="http://schemas.microsoft.com/office/drawing/2014/main" id="{53389A61-7950-41F1-B243-CE5A1C78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拓扑与安全 Profile</a:t>
            </a:r>
          </a:p>
        </p:txBody>
      </p:sp>
      <p:sp>
        <p:nvSpPr>
          <p:cNvPr id="21" name="migration-rule-2">
            <a:extLst xmlns:a="http://schemas.openxmlformats.org/drawingml/2006/main">
              <a:ext uri="{FF2B5EF4-FFF2-40B4-BE49-F238E27FC236}">
                <a16:creationId xmlns:a16="http://schemas.microsoft.com/office/drawing/2014/main" id="{8EC6DF0A-2538-4E78-88ED-4EBD2FAB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52900"/>
            <a:ext cx="396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migration-title-3">
            <a:extLst xmlns:a="http://schemas.openxmlformats.org/drawingml/2006/main">
              <a:ext uri="{FF2B5EF4-FFF2-40B4-BE49-F238E27FC236}">
                <a16:creationId xmlns:a16="http://schemas.microsoft.com/office/drawing/2014/main" id="{015769F1-59B2-421D-B4E5-44356B0D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38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下一阶段</a:t>
            </a:r>
          </a:p>
        </p:txBody>
      </p:sp>
      <p:sp>
        <p:nvSpPr>
          <p:cNvPr id="23" name="migration-copy-3">
            <a:extLst xmlns:a="http://schemas.openxmlformats.org/drawingml/2006/main">
              <a:ext uri="{FF2B5EF4-FFF2-40B4-BE49-F238E27FC236}">
                <a16:creationId xmlns:a16="http://schemas.microsoft.com/office/drawing/2014/main" id="{0BF52C2C-00E2-4C73-B7AB-A1A7316A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38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E33645"/>
                </a:solidFill>
              </a:defRPr>
            </a:pPr>
            <a:r>
              <a:rPr sz="1125" b="1">
                <a:solidFill>
                  <a:srgbClr val="E33645"/>
                </a:solidFill>
              </a:rPr>
              <a:t>Sketchfab OAuth Connector</a:t>
            </a:r>
          </a:p>
        </p:txBody>
      </p:sp>
      <p:sp>
        <p:nvSpPr>
          <p:cNvPr id="24" name="migration-rule-3">
            <a:extLst xmlns:a="http://schemas.openxmlformats.org/drawingml/2006/main">
              <a:ext uri="{FF2B5EF4-FFF2-40B4-BE49-F238E27FC236}">
                <a16:creationId xmlns:a16="http://schemas.microsoft.com/office/drawing/2014/main" id="{11D7F4AA-064E-42E7-AA52-936E0C5E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95850"/>
            <a:ext cx="396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migration-boundary">
            <a:extLst xmlns:a="http://schemas.openxmlformats.org/drawingml/2006/main">
              <a:ext uri="{FF2B5EF4-FFF2-40B4-BE49-F238E27FC236}">
                <a16:creationId xmlns:a16="http://schemas.microsoft.com/office/drawing/2014/main" id="{0BF28011-7123-45B8-998F-B6F0D159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19700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33645"/>
                </a:solidFill>
              </a:defRPr>
            </a:pPr>
            <a:r>
              <a:rPr sz="1050" b="1">
                <a:solidFill>
                  <a:srgbClr val="E33645"/>
                </a:solidFill>
              </a:rPr>
              <a:t>Sketchfab 为明确设计路线，当前不声明已上线。</a:t>
            </a:r>
          </a:p>
        </p:txBody>
      </p:sp>
      <p:sp>
        <p:nvSpPr>
          <p:cNvPr id="26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86ED8C98-2543-4A21-B100-909A016D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-stage-7">
            <a:extLst xmlns:a="http://schemas.openxmlformats.org/drawingml/2006/main">
              <a:ext uri="{FF2B5EF4-FFF2-40B4-BE49-F238E27FC236}">
                <a16:creationId xmlns:a16="http://schemas.microsoft.com/office/drawing/2014/main" id="{4A80DAEA-49EA-4073-B486-CE1515D7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OPEN SOURCE INTAKE · LICENSE PRESERVATION · PROFILE-DRIVEN MIGRATION</a:t>
            </a:r>
          </a:p>
        </p:txBody>
      </p:sp>
      <p:sp>
        <p:nvSpPr>
          <p:cNvPr id="28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E569BE11-D941-4A7A-9CFD-ED05FD50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2F73"/>
                </a:solidFill>
              </a:defRPr>
            </a:pPr>
            <a:r>
              <a:rPr sz="900" b="1">
                <a:solidFill>
                  <a:srgbClr val="0A2F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3244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kicker-8">
            <a:extLst xmlns:a="http://schemas.openxmlformats.org/drawingml/2006/main">
              <a:ext uri="{FF2B5EF4-FFF2-40B4-BE49-F238E27FC236}">
                <a16:creationId xmlns:a16="http://schemas.microsoft.com/office/drawing/2014/main" id="{2A2A5C85-0983-417B-94AE-4C4BB8FC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5D9"/>
                </a:solidFill>
              </a:defRPr>
            </a:pPr>
            <a:r>
              <a:rPr sz="1050" b="1">
                <a:solidFill>
                  <a:srgbClr val="1455D9"/>
                </a:solidFill>
              </a:rPr>
              <a:t>07 · 开源交付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F96EC25-7F50-4066-AA06-2E45C7A9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43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评委拿到 ZIP 后，可以从零安装、验证并复现主场景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F3226E6B-1F6B-4877-A87E-DAD94B2F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eedback-8">
            <a:extLst xmlns:a="http://schemas.openxmlformats.org/drawingml/2006/main">
              <a:ext uri="{FF2B5EF4-FFF2-40B4-BE49-F238E27FC236}">
                <a16:creationId xmlns:a16="http://schemas.microsoft.com/office/drawing/2014/main" id="{E318704A-2287-4C64-A374-26F83768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"/>
            <a:ext cx="20383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edback-label-8">
            <a:extLst xmlns:a="http://schemas.openxmlformats.org/drawingml/2006/main">
              <a:ext uri="{FF2B5EF4-FFF2-40B4-BE49-F238E27FC236}">
                <a16:creationId xmlns:a16="http://schemas.microsoft.com/office/drawing/2014/main" id="{CAB65502-3549-4BD5-9C6C-C470EF3C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复赛新增：可独立复现</a:t>
            </a:r>
          </a:p>
        </p:txBody>
      </p:sp>
      <p:sp>
        <p:nvSpPr>
          <p:cNvPr id="6" name="r-tests-value">
            <a:extLst xmlns:a="http://schemas.openxmlformats.org/drawingml/2006/main">
              <a:ext uri="{FF2B5EF4-FFF2-40B4-BE49-F238E27FC236}">
                <a16:creationId xmlns:a16="http://schemas.microsoft.com/office/drawing/2014/main" id="{C44F0D3A-97E4-4901-A665-A39FDF0D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A5A"/>
                </a:solidFill>
              </a:defRPr>
            </a:pPr>
            <a:r>
              <a:rPr sz="2850" b="1">
                <a:solidFill>
                  <a:srgbClr val="008A5A"/>
                </a:solidFill>
              </a:rPr>
              <a:t>103 / 103</a:t>
            </a:r>
          </a:p>
        </p:txBody>
      </p:sp>
      <p:sp>
        <p:nvSpPr>
          <p:cNvPr id="7" name="r-tests-label">
            <a:extLst xmlns:a="http://schemas.openxmlformats.org/drawingml/2006/main">
              <a:ext uri="{FF2B5EF4-FFF2-40B4-BE49-F238E27FC236}">
                <a16:creationId xmlns:a16="http://schemas.microsoft.com/office/drawing/2014/main" id="{F141F370-03AB-420C-A165-8427380C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自动测试</a:t>
            </a:r>
          </a:p>
        </p:txBody>
      </p:sp>
      <p:sp>
        <p:nvSpPr>
          <p:cNvPr id="8" name="r-core-value">
            <a:extLst xmlns:a="http://schemas.openxmlformats.org/drawingml/2006/main">
              <a:ext uri="{FF2B5EF4-FFF2-40B4-BE49-F238E27FC236}">
                <a16:creationId xmlns:a16="http://schemas.microsoft.com/office/drawing/2014/main" id="{508DAEE8-EDA2-48CD-BA25-8B8C3FB5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A5A"/>
                </a:solidFill>
              </a:defRPr>
            </a:pPr>
            <a:r>
              <a:rPr sz="2850" b="1">
                <a:solidFill>
                  <a:srgbClr val="008A5A"/>
                </a:solidFill>
              </a:rPr>
              <a:t>100 / 100</a:t>
            </a:r>
          </a:p>
        </p:txBody>
      </p:sp>
      <p:sp>
        <p:nvSpPr>
          <p:cNvPr id="9" name="r-core-label">
            <a:extLst xmlns:a="http://schemas.openxmlformats.org/drawingml/2006/main">
              <a:ext uri="{FF2B5EF4-FFF2-40B4-BE49-F238E27FC236}">
                <a16:creationId xmlns:a16="http://schemas.microsoft.com/office/drawing/2014/main" id="{BF2AB86E-424E-4299-91F3-C023CE77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Core Benchmark</a:t>
            </a:r>
          </a:p>
        </p:txBody>
      </p:sp>
      <p:sp>
        <p:nvSpPr>
          <p:cNvPr id="10" name="r-rules-value">
            <a:extLst xmlns:a="http://schemas.openxmlformats.org/drawingml/2006/main">
              <a:ext uri="{FF2B5EF4-FFF2-40B4-BE49-F238E27FC236}">
                <a16:creationId xmlns:a16="http://schemas.microsoft.com/office/drawing/2014/main" id="{3C1D57E7-0491-44B1-838C-1ED70E23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A5A"/>
                </a:solidFill>
              </a:defRPr>
            </a:pPr>
            <a:r>
              <a:rPr sz="2850" b="1">
                <a:solidFill>
                  <a:srgbClr val="008A5A"/>
                </a:solidFill>
              </a:rPr>
              <a:t>10 + 2</a:t>
            </a:r>
          </a:p>
        </p:txBody>
      </p:sp>
      <p:sp>
        <p:nvSpPr>
          <p:cNvPr id="11" name="r-rules-label">
            <a:extLst xmlns:a="http://schemas.openxmlformats.org/drawingml/2006/main">
              <a:ext uri="{FF2B5EF4-FFF2-40B4-BE49-F238E27FC236}">
                <a16:creationId xmlns:a16="http://schemas.microsoft.com/office/drawing/2014/main" id="{FA7D7885-8909-4ACE-975E-F63FB8E7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24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正式规则全部通过</a:t>
            </a:r>
          </a:p>
        </p:txBody>
      </p:sp>
      <p:sp>
        <p:nvSpPr>
          <p:cNvPr id="12" name="r-files-value">
            <a:extLst xmlns:a="http://schemas.openxmlformats.org/drawingml/2006/main">
              <a:ext uri="{FF2B5EF4-FFF2-40B4-BE49-F238E27FC236}">
                <a16:creationId xmlns:a16="http://schemas.microsoft.com/office/drawing/2014/main" id="{8CB273EE-0DF2-483C-8853-83D935FE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09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55D9"/>
                </a:solidFill>
              </a:defRPr>
            </a:pPr>
            <a:r>
              <a:rPr sz="2850" b="1">
                <a:solidFill>
                  <a:srgbClr val="1455D9"/>
                </a:solidFill>
              </a:rPr>
              <a:t>241</a:t>
            </a:r>
          </a:p>
        </p:txBody>
      </p:sp>
      <p:sp>
        <p:nvSpPr>
          <p:cNvPr id="13" name="r-files-label">
            <a:extLst xmlns:a="http://schemas.openxmlformats.org/drawingml/2006/main">
              <a:ext uri="{FF2B5EF4-FFF2-40B4-BE49-F238E27FC236}">
                <a16:creationId xmlns:a16="http://schemas.microsoft.com/office/drawing/2014/main" id="{22B80880-9AE3-413B-A29D-8C874F6F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24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提交文件哈希锁定</a:t>
            </a:r>
          </a:p>
        </p:txBody>
      </p:sp>
      <p:sp>
        <p:nvSpPr>
          <p:cNvPr id="14" name="r-checks-value">
            <a:extLst xmlns:a="http://schemas.openxmlformats.org/drawingml/2006/main">
              <a:ext uri="{FF2B5EF4-FFF2-40B4-BE49-F238E27FC236}">
                <a16:creationId xmlns:a16="http://schemas.microsoft.com/office/drawing/2014/main" id="{435A0DBC-DCA0-42E9-9B52-EC1D3674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097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55D9"/>
                </a:solidFill>
              </a:defRPr>
            </a:pPr>
            <a:r>
              <a:rPr sz="2850" b="1">
                <a:solidFill>
                  <a:srgbClr val="1455D9"/>
                </a:solidFill>
              </a:rPr>
              <a:t>63 / 63</a:t>
            </a:r>
          </a:p>
        </p:txBody>
      </p:sp>
      <p:sp>
        <p:nvSpPr>
          <p:cNvPr id="15" name="r-checks-label">
            <a:extLst xmlns:a="http://schemas.openxmlformats.org/drawingml/2006/main">
              <a:ext uri="{FF2B5EF4-FFF2-40B4-BE49-F238E27FC236}">
                <a16:creationId xmlns:a16="http://schemas.microsoft.com/office/drawing/2014/main" id="{2C5609E1-A224-41C9-BAD7-AEC26391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24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474"/>
                </a:solidFill>
              </a:defRPr>
            </a:pPr>
            <a:r>
              <a:rPr sz="1125" b="1">
                <a:solidFill>
                  <a:srgbClr val="5B6474"/>
                </a:solidFill>
              </a:rPr>
              <a:t>跨材料一致性</a:t>
            </a:r>
          </a:p>
        </p:txBody>
      </p:sp>
      <p:sp>
        <p:nvSpPr>
          <p:cNvPr id="16" name="repro-chain-title">
            <a:extLst xmlns:a="http://schemas.openxmlformats.org/drawingml/2006/main">
              <a:ext uri="{FF2B5EF4-FFF2-40B4-BE49-F238E27FC236}">
                <a16:creationId xmlns:a16="http://schemas.microsoft.com/office/drawing/2014/main" id="{F2FA0538-0A33-4E91-A5D3-A4FBB039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干净环境复现链</a:t>
            </a:r>
          </a:p>
        </p:txBody>
      </p:sp>
      <p:sp>
        <p:nvSpPr>
          <p:cNvPr id="17" name="repro-line">
            <a:extLst xmlns:a="http://schemas.openxmlformats.org/drawingml/2006/main">
              <a:ext uri="{FF2B5EF4-FFF2-40B4-BE49-F238E27FC236}">
                <a16:creationId xmlns:a16="http://schemas.microsoft.com/office/drawing/2014/main" id="{414E9461-B79A-4C0E-BB9F-247396AF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pro-step-0">
            <a:extLst xmlns:a="http://schemas.openxmlformats.org/drawingml/2006/main">
              <a:ext uri="{FF2B5EF4-FFF2-40B4-BE49-F238E27FC236}">
                <a16:creationId xmlns:a16="http://schemas.microsoft.com/office/drawing/2014/main" id="{07E5F1E2-F978-4FE7-9303-6AA2D3ED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95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pro-step-no-0">
            <a:extLst xmlns:a="http://schemas.openxmlformats.org/drawingml/2006/main">
              <a:ext uri="{FF2B5EF4-FFF2-40B4-BE49-F238E27FC236}">
                <a16:creationId xmlns:a16="http://schemas.microsoft.com/office/drawing/2014/main" id="{23AA9F6A-C28F-44DB-9D83-7ECE44D9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43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pro-step-text-0">
            <a:extLst xmlns:a="http://schemas.openxmlformats.org/drawingml/2006/main">
              <a:ext uri="{FF2B5EF4-FFF2-40B4-BE49-F238E27FC236}">
                <a16:creationId xmlns:a16="http://schemas.microsoft.com/office/drawing/2014/main" id="{F2AC2E2B-2E5A-4901-98BB-917983BE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解压 ZIP</a:t>
            </a:r>
          </a:p>
        </p:txBody>
      </p:sp>
      <p:sp>
        <p:nvSpPr>
          <p:cNvPr id="21" name="repro-step-1">
            <a:extLst xmlns:a="http://schemas.openxmlformats.org/drawingml/2006/main">
              <a:ext uri="{FF2B5EF4-FFF2-40B4-BE49-F238E27FC236}">
                <a16:creationId xmlns:a16="http://schemas.microsoft.com/office/drawing/2014/main" id="{3B039CF7-DEFB-4D1B-993E-3EDB0C0D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195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pro-step-no-1">
            <a:extLst xmlns:a="http://schemas.openxmlformats.org/drawingml/2006/main">
              <a:ext uri="{FF2B5EF4-FFF2-40B4-BE49-F238E27FC236}">
                <a16:creationId xmlns:a16="http://schemas.microsoft.com/office/drawing/2014/main" id="{D1DFBFE7-2411-4F4D-9996-77212F96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43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repro-step-text-1">
            <a:extLst xmlns:a="http://schemas.openxmlformats.org/drawingml/2006/main">
              <a:ext uri="{FF2B5EF4-FFF2-40B4-BE49-F238E27FC236}">
                <a16:creationId xmlns:a16="http://schemas.microsoft.com/office/drawing/2014/main" id="{9D9B65F4-08EB-4858-80EB-D144EFB6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148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创建虚拟环境</a:t>
            </a:r>
          </a:p>
        </p:txBody>
      </p:sp>
      <p:sp>
        <p:nvSpPr>
          <p:cNvPr id="24" name="repro-step-2">
            <a:extLst xmlns:a="http://schemas.openxmlformats.org/drawingml/2006/main">
              <a:ext uri="{FF2B5EF4-FFF2-40B4-BE49-F238E27FC236}">
                <a16:creationId xmlns:a16="http://schemas.microsoft.com/office/drawing/2014/main" id="{BA315B73-14B9-4868-9395-D1BE5EC5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95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pro-step-no-2">
            <a:extLst xmlns:a="http://schemas.openxmlformats.org/drawingml/2006/main">
              <a:ext uri="{FF2B5EF4-FFF2-40B4-BE49-F238E27FC236}">
                <a16:creationId xmlns:a16="http://schemas.microsoft.com/office/drawing/2014/main" id="{EC03CF4B-B914-46BB-9171-6244305E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943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repro-step-text-2">
            <a:extLst xmlns:a="http://schemas.openxmlformats.org/drawingml/2006/main">
              <a:ext uri="{FF2B5EF4-FFF2-40B4-BE49-F238E27FC236}">
                <a16:creationId xmlns:a16="http://schemas.microsoft.com/office/drawing/2014/main" id="{D36B64A3-0BDF-4DFA-B022-70A899CF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148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pip install -e .</a:t>
            </a:r>
          </a:p>
        </p:txBody>
      </p:sp>
      <p:sp>
        <p:nvSpPr>
          <p:cNvPr id="27" name="repro-step-3">
            <a:extLst xmlns:a="http://schemas.openxmlformats.org/drawingml/2006/main">
              <a:ext uri="{FF2B5EF4-FFF2-40B4-BE49-F238E27FC236}">
                <a16:creationId xmlns:a16="http://schemas.microsoft.com/office/drawing/2014/main" id="{5C32A1C7-822E-48CB-BC83-6A12B2AC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95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pro-step-no-3">
            <a:extLst xmlns:a="http://schemas.openxmlformats.org/drawingml/2006/main">
              <a:ext uri="{FF2B5EF4-FFF2-40B4-BE49-F238E27FC236}">
                <a16:creationId xmlns:a16="http://schemas.microsoft.com/office/drawing/2014/main" id="{8516B82B-F1B5-45A6-AF7D-B37B9649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43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pro-step-text-3">
            <a:extLst xmlns:a="http://schemas.openxmlformats.org/drawingml/2006/main">
              <a:ext uri="{FF2B5EF4-FFF2-40B4-BE49-F238E27FC236}">
                <a16:creationId xmlns:a16="http://schemas.microsoft.com/office/drawing/2014/main" id="{EBD27ED2-E694-4AD8-91BC-49C4C4F0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运行 103 tests</a:t>
            </a:r>
          </a:p>
        </p:txBody>
      </p:sp>
      <p:sp>
        <p:nvSpPr>
          <p:cNvPr id="30" name="repro-step-4">
            <a:extLst xmlns:a="http://schemas.openxmlformats.org/drawingml/2006/main">
              <a:ext uri="{FF2B5EF4-FFF2-40B4-BE49-F238E27FC236}">
                <a16:creationId xmlns:a16="http://schemas.microsoft.com/office/drawing/2014/main" id="{13E12D47-2242-459E-8917-22280813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195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5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pro-step-no-4">
            <a:extLst xmlns:a="http://schemas.openxmlformats.org/drawingml/2006/main">
              <a:ext uri="{FF2B5EF4-FFF2-40B4-BE49-F238E27FC236}">
                <a16:creationId xmlns:a16="http://schemas.microsoft.com/office/drawing/2014/main" id="{AAE7F58C-4877-4E0E-9E41-AA636A04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43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repro-step-text-4">
            <a:extLst xmlns:a="http://schemas.openxmlformats.org/drawingml/2006/main">
              <a:ext uri="{FF2B5EF4-FFF2-40B4-BE49-F238E27FC236}">
                <a16:creationId xmlns:a16="http://schemas.microsoft.com/office/drawing/2014/main" id="{7EF7A6CD-CC32-42F0-A68C-793049EB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校验 manifest</a:t>
            </a:r>
          </a:p>
        </p:txBody>
      </p:sp>
      <p:sp>
        <p:nvSpPr>
          <p:cNvPr id="33" name="repro-step-5">
            <a:extLst xmlns:a="http://schemas.openxmlformats.org/drawingml/2006/main">
              <a:ext uri="{FF2B5EF4-FFF2-40B4-BE49-F238E27FC236}">
                <a16:creationId xmlns:a16="http://schemas.microsoft.com/office/drawing/2014/main" id="{F0025F8D-216A-4FEC-89F7-E0FA0166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819525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8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pro-step-no-5">
            <a:extLst xmlns:a="http://schemas.openxmlformats.org/drawingml/2006/main">
              <a:ext uri="{FF2B5EF4-FFF2-40B4-BE49-F238E27FC236}">
                <a16:creationId xmlns:a16="http://schemas.microsoft.com/office/drawing/2014/main" id="{FFFD14B4-F137-45DE-8A48-BB4CC333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9433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repro-step-text-5">
            <a:extLst xmlns:a="http://schemas.openxmlformats.org/drawingml/2006/main">
              <a:ext uri="{FF2B5EF4-FFF2-40B4-BE49-F238E27FC236}">
                <a16:creationId xmlns:a16="http://schemas.microsoft.com/office/drawing/2014/main" id="{C07B7645-3DB0-400E-91E3-5E87529A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</a:defRPr>
            </a:pPr>
            <a:r>
              <a:rPr sz="1050" b="1">
                <a:solidFill>
                  <a:srgbClr val="111827"/>
                </a:solidFill>
              </a:rPr>
              <a:t>L1 REPAIRED_PASS</a:t>
            </a:r>
          </a:p>
        </p:txBody>
      </p:sp>
      <p:sp>
        <p:nvSpPr>
          <p:cNvPr id="36" name="license">
            <a:extLst xmlns:a="http://schemas.openxmlformats.org/drawingml/2006/main">
              <a:ext uri="{FF2B5EF4-FFF2-40B4-BE49-F238E27FC236}">
                <a16:creationId xmlns:a16="http://schemas.microsoft.com/office/drawing/2014/main" id="{50712AE2-CADE-404E-8B72-FE30CB34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58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license-copy">
            <a:extLst xmlns:a="http://schemas.openxmlformats.org/drawingml/2006/main">
              <a:ext uri="{FF2B5EF4-FFF2-40B4-BE49-F238E27FC236}">
                <a16:creationId xmlns:a16="http://schemas.microsoft.com/office/drawing/2014/main" id="{69F84BE2-287D-4026-B910-AAEACEFE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24475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Apache-2.0 · 第三方资产保留原许可 · 密钥与运行时缓存不进入发布包</a:t>
            </a:r>
          </a:p>
        </p:txBody>
      </p:sp>
      <p:sp>
        <p:nvSpPr>
          <p:cNvPr id="38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6BE8C73C-8237-4A18-96E9-54DCA9E5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ooter-stage-8">
            <a:extLst xmlns:a="http://schemas.openxmlformats.org/drawingml/2006/main">
              <a:ext uri="{FF2B5EF4-FFF2-40B4-BE49-F238E27FC236}">
                <a16:creationId xmlns:a16="http://schemas.microsoft.com/office/drawing/2014/main" id="{07F6BBC8-302C-40A2-BB6C-C5588517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474"/>
                </a:solidFill>
              </a:defRPr>
            </a:pPr>
            <a:r>
              <a:rPr sz="825" b="1">
                <a:solidFill>
                  <a:srgbClr val="5B6474"/>
                </a:solidFill>
              </a:rPr>
              <a:t>RUNNABLE · VERIFIABLE · HASHED · LICENSED</a:t>
            </a:r>
          </a:p>
        </p:txBody>
      </p:sp>
      <p:sp>
        <p:nvSpPr>
          <p:cNvPr id="4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0B6F18C5-DB74-476D-846F-29BBD524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A2F73"/>
                </a:solidFill>
              </a:defRPr>
            </a:pPr>
            <a:r>
              <a:rPr sz="900" b="1">
                <a:solidFill>
                  <a:srgbClr val="0A2F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639876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2F7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02BFED3D-920D-4160-AFCE-052AAD12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BB9FF"/>
                </a:solidFill>
              </a:defRPr>
            </a:pPr>
            <a:r>
              <a:rPr sz="1125" b="1">
                <a:solidFill>
                  <a:srgbClr val="9BB9FF"/>
                </a:solidFill>
              </a:rPr>
              <a:t>ONE-MINUTE DEMO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292A8C3-781E-4E9D-8C73-5DE7A865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把一份有缺陷的 GLB，交付成可验证结果</a:t>
            </a:r>
          </a:p>
        </p:txBody>
      </p:sp>
      <p:sp>
        <p:nvSpPr>
          <p:cNvPr id="3" name="close-line">
            <a:extLst xmlns:a="http://schemas.openxmlformats.org/drawingml/2006/main">
              <a:ext uri="{FF2B5EF4-FFF2-40B4-BE49-F238E27FC236}">
                <a16:creationId xmlns:a16="http://schemas.microsoft.com/office/drawing/2014/main" id="{4D3743B4-3F70-430A-855D-89FB5C78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0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dot-0">
            <a:extLst xmlns:a="http://schemas.openxmlformats.org/drawingml/2006/main">
              <a:ext uri="{FF2B5EF4-FFF2-40B4-BE49-F238E27FC236}">
                <a16:creationId xmlns:a16="http://schemas.microsoft.com/office/drawing/2014/main" id="{87764C84-5C9A-446F-846B-F0D730DF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no-0">
            <a:extLst xmlns:a="http://schemas.openxmlformats.org/drawingml/2006/main">
              <a:ext uri="{FF2B5EF4-FFF2-40B4-BE49-F238E27FC236}">
                <a16:creationId xmlns:a16="http://schemas.microsoft.com/office/drawing/2014/main" id="{36FE2D4B-A727-4ABC-B535-DEA4CF7B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0003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close-step-0">
            <a:extLst xmlns:a="http://schemas.openxmlformats.org/drawingml/2006/main">
              <a:ext uri="{FF2B5EF4-FFF2-40B4-BE49-F238E27FC236}">
                <a16:creationId xmlns:a16="http://schemas.microsoft.com/office/drawing/2014/main" id="{AFA9A839-4027-4C51-8E6C-AD2B3D99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上传</a:t>
            </a:r>
          </a:p>
        </p:txBody>
      </p:sp>
      <p:sp>
        <p:nvSpPr>
          <p:cNvPr id="7" name="close-copy-0">
            <a:extLst xmlns:a="http://schemas.openxmlformats.org/drawingml/2006/main">
              <a:ext uri="{FF2B5EF4-FFF2-40B4-BE49-F238E27FC236}">
                <a16:creationId xmlns:a16="http://schemas.microsoft.com/office/drawing/2014/main" id="{F12AC21D-9E56-4A8F-9640-5346DDEC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D8FF"/>
                </a:solidFill>
              </a:defRPr>
            </a:pPr>
            <a:r>
              <a:rPr sz="1050" b="1">
                <a:solidFill>
                  <a:srgbClr val="C9D8FF"/>
                </a:solidFill>
              </a:rPr>
              <a:t>原件 SHA 锁定</a:t>
            </a:r>
          </a:p>
        </p:txBody>
      </p:sp>
      <p:sp>
        <p:nvSpPr>
          <p:cNvPr id="8" name="close-dot-1">
            <a:extLst xmlns:a="http://schemas.openxmlformats.org/drawingml/2006/main">
              <a:ext uri="{FF2B5EF4-FFF2-40B4-BE49-F238E27FC236}">
                <a16:creationId xmlns:a16="http://schemas.microsoft.com/office/drawing/2014/main" id="{9A7FB8B0-4402-4A7C-B154-93F33629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384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lose-no-1">
            <a:extLst xmlns:a="http://schemas.openxmlformats.org/drawingml/2006/main">
              <a:ext uri="{FF2B5EF4-FFF2-40B4-BE49-F238E27FC236}">
                <a16:creationId xmlns:a16="http://schemas.microsoft.com/office/drawing/2014/main" id="{D0CD1680-88F4-4FC0-9F97-F5782A50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003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close-step-1">
            <a:extLst xmlns:a="http://schemas.openxmlformats.org/drawingml/2006/main">
              <a:ext uri="{FF2B5EF4-FFF2-40B4-BE49-F238E27FC236}">
                <a16:creationId xmlns:a16="http://schemas.microsoft.com/office/drawing/2014/main" id="{1A584D9E-BEA7-4625-B356-9199A5AF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协作</a:t>
            </a:r>
          </a:p>
        </p:txBody>
      </p:sp>
      <p:sp>
        <p:nvSpPr>
          <p:cNvPr id="11" name="close-copy-1">
            <a:extLst xmlns:a="http://schemas.openxmlformats.org/drawingml/2006/main">
              <a:ext uri="{FF2B5EF4-FFF2-40B4-BE49-F238E27FC236}">
                <a16:creationId xmlns:a16="http://schemas.microsoft.com/office/drawing/2014/main" id="{0C811DC0-3515-4AA4-B0C8-6B091AA1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71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D8FF"/>
                </a:solidFill>
              </a:defRPr>
            </a:pPr>
            <a:r>
              <a:rPr sz="1050" b="1">
                <a:solidFill>
                  <a:srgbClr val="C9D8FF"/>
                </a:solidFill>
              </a:rPr>
              <a:t>Leader + 4 Worker</a:t>
            </a:r>
          </a:p>
        </p:txBody>
      </p:sp>
      <p:sp>
        <p:nvSpPr>
          <p:cNvPr id="12" name="close-dot-2">
            <a:extLst xmlns:a="http://schemas.openxmlformats.org/drawingml/2006/main">
              <a:ext uri="{FF2B5EF4-FFF2-40B4-BE49-F238E27FC236}">
                <a16:creationId xmlns:a16="http://schemas.microsoft.com/office/drawing/2014/main" id="{5E92350A-18A5-4FEC-B7F8-29F3CFC6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384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lose-no-2">
            <a:extLst xmlns:a="http://schemas.openxmlformats.org/drawingml/2006/main">
              <a:ext uri="{FF2B5EF4-FFF2-40B4-BE49-F238E27FC236}">
                <a16:creationId xmlns:a16="http://schemas.microsoft.com/office/drawing/2014/main" id="{3122AD2F-27BB-4486-9EB6-A278C0B6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0003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close-step-2">
            <a:extLst xmlns:a="http://schemas.openxmlformats.org/drawingml/2006/main">
              <a:ext uri="{FF2B5EF4-FFF2-40B4-BE49-F238E27FC236}">
                <a16:creationId xmlns:a16="http://schemas.microsoft.com/office/drawing/2014/main" id="{1F839D41-8AE0-44E2-B92A-A12002D9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719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修复</a:t>
            </a:r>
          </a:p>
        </p:txBody>
      </p:sp>
      <p:sp>
        <p:nvSpPr>
          <p:cNvPr id="15" name="close-copy-2">
            <a:extLst xmlns:a="http://schemas.openxmlformats.org/drawingml/2006/main">
              <a:ext uri="{FF2B5EF4-FFF2-40B4-BE49-F238E27FC236}">
                <a16:creationId xmlns:a16="http://schemas.microsoft.com/office/drawing/2014/main" id="{67100E4A-81C0-4B49-B144-C0F160F7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71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D8FF"/>
                </a:solidFill>
              </a:defRPr>
            </a:pPr>
            <a:r>
              <a:rPr sz="1050" b="1">
                <a:solidFill>
                  <a:srgbClr val="C9D8FF"/>
                </a:solidFill>
              </a:rPr>
              <a:t>Plan + Checkpoint</a:t>
            </a:r>
          </a:p>
        </p:txBody>
      </p:sp>
      <p:sp>
        <p:nvSpPr>
          <p:cNvPr id="16" name="close-dot-3">
            <a:extLst xmlns:a="http://schemas.openxmlformats.org/drawingml/2006/main">
              <a:ext uri="{FF2B5EF4-FFF2-40B4-BE49-F238E27FC236}">
                <a16:creationId xmlns:a16="http://schemas.microsoft.com/office/drawing/2014/main" id="{91245126-D5C7-4B04-AF7E-1F7C3F31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84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336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ose-no-3">
            <a:extLst xmlns:a="http://schemas.openxmlformats.org/drawingml/2006/main">
              <a:ext uri="{FF2B5EF4-FFF2-40B4-BE49-F238E27FC236}">
                <a16:creationId xmlns:a16="http://schemas.microsoft.com/office/drawing/2014/main" id="{64C4E04B-05D9-4095-8188-68D117AF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0003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close-step-3">
            <a:extLst xmlns:a="http://schemas.openxmlformats.org/drawingml/2006/main">
              <a:ext uri="{FF2B5EF4-FFF2-40B4-BE49-F238E27FC236}">
                <a16:creationId xmlns:a16="http://schemas.microsoft.com/office/drawing/2014/main" id="{35050E78-DCC5-4E57-AEFF-BF9983E0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719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复验</a:t>
            </a:r>
          </a:p>
        </p:txBody>
      </p:sp>
      <p:sp>
        <p:nvSpPr>
          <p:cNvPr id="19" name="close-copy-3">
            <a:extLst xmlns:a="http://schemas.openxmlformats.org/drawingml/2006/main">
              <a:ext uri="{FF2B5EF4-FFF2-40B4-BE49-F238E27FC236}">
                <a16:creationId xmlns:a16="http://schemas.microsoft.com/office/drawing/2014/main" id="{3FE6EDA2-E35E-4906-928C-543252A8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71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D8FF"/>
                </a:solidFill>
              </a:defRPr>
            </a:pPr>
            <a:r>
              <a:rPr sz="1050" b="1">
                <a:solidFill>
                  <a:srgbClr val="C9D8FF"/>
                </a:solidFill>
              </a:rPr>
              <a:t>REPAIRED_PASS</a:t>
            </a:r>
          </a:p>
        </p:txBody>
      </p:sp>
      <p:sp>
        <p:nvSpPr>
          <p:cNvPr id="20" name="close-dot-4">
            <a:extLst xmlns:a="http://schemas.openxmlformats.org/drawingml/2006/main">
              <a:ext uri="{FF2B5EF4-FFF2-40B4-BE49-F238E27FC236}">
                <a16:creationId xmlns:a16="http://schemas.microsoft.com/office/drawing/2014/main" id="{8A356968-69C1-49E2-8184-220BC0D8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384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08A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lose-no-4">
            <a:extLst xmlns:a="http://schemas.openxmlformats.org/drawingml/2006/main">
              <a:ext uri="{FF2B5EF4-FFF2-40B4-BE49-F238E27FC236}">
                <a16:creationId xmlns:a16="http://schemas.microsoft.com/office/drawing/2014/main" id="{4F404C63-BABB-49AE-945F-EC9F3551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000375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close-step-4">
            <a:extLst xmlns:a="http://schemas.openxmlformats.org/drawingml/2006/main">
              <a:ext uri="{FF2B5EF4-FFF2-40B4-BE49-F238E27FC236}">
                <a16:creationId xmlns:a16="http://schemas.microsoft.com/office/drawing/2014/main" id="{677F615A-43D3-4AD3-B93D-95A4D867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719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取证</a:t>
            </a:r>
          </a:p>
        </p:txBody>
      </p:sp>
      <p:sp>
        <p:nvSpPr>
          <p:cNvPr id="23" name="close-copy-4">
            <a:extLst xmlns:a="http://schemas.openxmlformats.org/drawingml/2006/main">
              <a:ext uri="{FF2B5EF4-FFF2-40B4-BE49-F238E27FC236}">
                <a16:creationId xmlns:a16="http://schemas.microsoft.com/office/drawing/2014/main" id="{29663B3D-66EE-4E81-B99F-CD4D020D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7195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9D8FF"/>
                </a:solidFill>
              </a:defRPr>
            </a:pPr>
            <a:r>
              <a:rPr sz="1050" b="1">
                <a:solidFill>
                  <a:srgbClr val="C9D8FF"/>
                </a:solidFill>
              </a:rPr>
              <a:t>Trace + Release Hash</a:t>
            </a:r>
          </a:p>
        </p:txBody>
      </p:sp>
      <p:sp>
        <p:nvSpPr>
          <p:cNvPr id="24" name="close-claim">
            <a:extLst xmlns:a="http://schemas.openxmlformats.org/drawingml/2006/main">
              <a:ext uri="{FF2B5EF4-FFF2-40B4-BE49-F238E27FC236}">
                <a16:creationId xmlns:a16="http://schemas.microsoft.com/office/drawing/2014/main" id="{E6E96873-BB44-4A29-96C7-74053222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39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C2454"/>
          </a:solidFill>
          <a:ln xmlns:a="http://schemas.openxmlformats.org/drawingml/2006/main" w="9525">
            <a:solidFill>
              <a:srgbClr val="4D70B7"/>
            </a:solidFill>
            <a:prstDash val="solid"/>
          </a:ln>
        </p:spPr>
      </p:sp>
      <p:sp>
        <p:nvSpPr>
          <p:cNvPr id="25" name="close-claim-text">
            <a:extLst xmlns:a="http://schemas.openxmlformats.org/drawingml/2006/main">
              <a:ext uri="{FF2B5EF4-FFF2-40B4-BE49-F238E27FC236}">
                <a16:creationId xmlns:a16="http://schemas.microsoft.com/office/drawing/2014/main" id="{B82049F8-7DE1-45A7-9C9D-613FBED5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006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已证明：五 Agent L1 主链、证据链、安全门禁、开源复现。未冒充：企业 IAM、无限制 Matrix 编排、行业级准确率。</a:t>
            </a:r>
          </a:p>
        </p:txBody>
      </p:sp>
      <p:sp>
        <p:nvSpPr>
          <p:cNvPr id="26" name="close-name">
            <a:extLst xmlns:a="http://schemas.openxmlformats.org/drawingml/2006/main">
              <a:ext uri="{FF2B5EF4-FFF2-40B4-BE49-F238E27FC236}">
                <a16:creationId xmlns:a16="http://schemas.microsoft.com/office/drawing/2014/main" id="{0C0128CA-A167-418A-B2C5-977549AA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B9FF"/>
                </a:solidFill>
              </a:defRPr>
            </a:pPr>
            <a:r>
              <a:rPr sz="900" b="1">
                <a:solidFill>
                  <a:srgbClr val="9BB9FF"/>
                </a:solidFill>
              </a:rPr>
              <a:t>SceneGuard · Regulus-24/SceneGuard</a:t>
            </a:r>
          </a:p>
        </p:txBody>
      </p:sp>
      <p:sp>
        <p:nvSpPr>
          <p:cNvPr id="27" name="close-page">
            <a:extLst xmlns:a="http://schemas.openxmlformats.org/drawingml/2006/main">
              <a:ext uri="{FF2B5EF4-FFF2-40B4-BE49-F238E27FC236}">
                <a16:creationId xmlns:a16="http://schemas.microsoft.com/office/drawing/2014/main" id="{8AE47339-FDD8-4AC0-8724-FD9E3DF0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055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BB9FF"/>
                </a:solidFill>
              </a:defRPr>
            </a:pPr>
            <a:r>
              <a:rPr sz="900" b="1">
                <a:solidFill>
                  <a:srgbClr val="9BB9F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5762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2026-09-01T10:58:27.8700000Z</dcterms:created>
  <dcterms:modified xsi:type="dcterms:W3CDTF">2026-09-01T10:58:27.8700000Z</dcterms:modified>
</coreProperties>
</file>